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one hour, everyone here goes from never touching a terminal to running a real tool they built. No home server, no installs — a Linux machine in your browser. This is session 1 of the Zero-to-GPU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it: typing instead of clicking. Emphasize the rule at the bottom — 90% of beginner errors are typos or being in the wrong folder. Reassure them nothing they type can break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preview — point at it. Reassure them: you'll build exactly this. The 'one tool, not ten drills' framing is why the workshop sticks. Keep the tool simple; the satisfaction is in seeing it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repo URL and this click-path on screen. Warm a Codespace yourself before class so the image is cached. Steer everyone to Codespaces so the whole room is identical; the fallback is only for anyone who truly can't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arc: navigate, scaffold, write, feed data, run, manage. Step 3 (vim) is the time crunch — budget ~14 min. Step 5 (chmod) is the emotional peak: the Permission-denied error then the fix is the best 30 seconds of the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people get stuck famously. Teach ONLY these four. Repeat the escape hatch out loud. Make sure everyone has successfully quit vim at least once before moving on. The cheat-sheet carries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check.sh as your pacing radar — glance around, if most screens show 3/6 you know where the room is without interrupting. And keep repeating: nearly every error is a typo or being in the wrong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through-line: the tool they built today isn't thrown away — it grows into the GPU workshops. End on the teaser and let them run their dashboard one more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640080" y="594360"/>
            <a:ext cx="502920" cy="502920"/>
          </a:xfrm>
          <a:prstGeom prst="ellipse">
            <a:avLst/>
          </a:prstGeom>
          <a:solidFill>
            <a:srgbClr val="3FB950"/>
          </a:solidFill>
          <a:ln/>
        </p:spPr>
      </p:sp>
      <p:sp>
        <p:nvSpPr>
          <p:cNvPr id="3" name="Text 1"/>
          <p:cNvSpPr/>
          <p:nvPr/>
        </p:nvSpPr>
        <p:spPr>
          <a:xfrm>
            <a:off x="640080" y="594360"/>
            <a:ext cx="502920" cy="502920"/>
          </a:xfrm>
          <a:prstGeom prst="rect">
            <a:avLst/>
          </a:prstGeom>
          <a:noFill/>
          <a:ln/>
        </p:spPr>
        <p:txBody>
          <a:bodyPr wrap="square" lIns="0" tIns="0" rIns="0" bIns="0" rtlCol="0" anchor="ctr"/>
          <a:lstStyle/>
          <a:p>
            <a:pPr algn="ctr" indent="0" marL="0">
              <a:buNone/>
            </a:pPr>
            <a:r>
              <a:rPr lang="en-US" sz="1400" b="1" dirty="0">
                <a:solidFill>
                  <a:srgbClr val="0D1117"/>
                </a:solidFill>
                <a:latin typeface="Courier New" pitchFamily="34" charset="0"/>
                <a:ea typeface="Courier New" pitchFamily="34" charset="-122"/>
                <a:cs typeface="Courier New" pitchFamily="34" charset="-120"/>
              </a:rPr>
              <a:t>$</a:t>
            </a:r>
            <a:endParaRPr lang="en-US" sz="1400" dirty="0"/>
          </a:p>
        </p:txBody>
      </p:sp>
      <p:sp>
        <p:nvSpPr>
          <p:cNvPr id="4" name="Text 2"/>
          <p:cNvSpPr/>
          <p:nvPr/>
        </p:nvSpPr>
        <p:spPr>
          <a:xfrm>
            <a:off x="1325880" y="658368"/>
            <a:ext cx="7315200" cy="365760"/>
          </a:xfrm>
          <a:prstGeom prst="rect">
            <a:avLst/>
          </a:prstGeom>
          <a:noFill/>
          <a:ln/>
        </p:spPr>
        <p:txBody>
          <a:bodyPr wrap="square" lIns="0" tIns="0" rIns="0" bIns="0" rtlCol="0" anchor="ctr"/>
          <a:lstStyle/>
          <a:p>
            <a:pPr indent="0" marL="0">
              <a:buNone/>
            </a:pPr>
            <a:r>
              <a:rPr lang="en-US" sz="1400" spc="200" kern="0" dirty="0">
                <a:solidFill>
                  <a:srgbClr val="3FB950"/>
                </a:solidFill>
                <a:latin typeface="Courier New" pitchFamily="34" charset="0"/>
                <a:ea typeface="Courier New" pitchFamily="34" charset="-122"/>
                <a:cs typeface="Courier New" pitchFamily="34" charset="-120"/>
              </a:rPr>
              <a:t>WORKSHOP 1  ·  LINUX FUNDAMENTALS</a:t>
            </a:r>
            <a:endParaRPr lang="en-US" sz="1400" dirty="0"/>
          </a:p>
        </p:txBody>
      </p:sp>
      <p:sp>
        <p:nvSpPr>
          <p:cNvPr id="5" name="Text 3"/>
          <p:cNvSpPr/>
          <p:nvPr/>
        </p:nvSpPr>
        <p:spPr>
          <a:xfrm>
            <a:off x="640080" y="1737360"/>
            <a:ext cx="7498080" cy="1920240"/>
          </a:xfrm>
          <a:prstGeom prst="rect">
            <a:avLst/>
          </a:prstGeom>
          <a:noFill/>
          <a:ln/>
        </p:spPr>
        <p:txBody>
          <a:bodyPr wrap="square" lIns="0" tIns="0" rIns="0" bIns="0" rtlCol="0" anchor="ctr"/>
          <a:lstStyle/>
          <a:p>
            <a:pPr indent="0" marL="0">
              <a:lnSpc>
                <a:spcPct val="98000"/>
              </a:lnSpc>
              <a:buNone/>
            </a:pPr>
            <a:r>
              <a:rPr lang="en-US" sz="5200" b="1" dirty="0">
                <a:solidFill>
                  <a:srgbClr val="E6EDF3"/>
                </a:solidFill>
                <a:latin typeface="Arial" pitchFamily="34" charset="0"/>
                <a:ea typeface="Arial" pitchFamily="34" charset="-122"/>
                <a:cs typeface="Arial" pitchFamily="34" charset="-120"/>
              </a:rPr>
              <a:t>Build Your Own</a:t>
            </a:r>
            <a:endParaRPr lang="en-US" sz="5200" dirty="0"/>
          </a:p>
          <a:p>
            <a:pPr indent="0" marL="0">
              <a:lnSpc>
                <a:spcPct val="98000"/>
              </a:lnSpc>
              <a:buNone/>
            </a:pPr>
            <a:r>
              <a:rPr lang="en-US" sz="5200" b="1" dirty="0">
                <a:solidFill>
                  <a:srgbClr val="E6EDF3"/>
                </a:solidFill>
                <a:latin typeface="Arial" pitchFamily="34" charset="0"/>
                <a:ea typeface="Arial" pitchFamily="34" charset="-122"/>
                <a:cs typeface="Arial" pitchFamily="34" charset="-120"/>
              </a:rPr>
              <a:t>Command Center</a:t>
            </a:r>
            <a:endParaRPr lang="en-US" sz="5200" dirty="0"/>
          </a:p>
        </p:txBody>
      </p:sp>
      <p:sp>
        <p:nvSpPr>
          <p:cNvPr id="6" name="Text 4"/>
          <p:cNvSpPr/>
          <p:nvPr/>
        </p:nvSpPr>
        <p:spPr>
          <a:xfrm>
            <a:off x="658368" y="3703320"/>
            <a:ext cx="7315200" cy="548640"/>
          </a:xfrm>
          <a:prstGeom prst="rect">
            <a:avLst/>
          </a:prstGeom>
          <a:noFill/>
          <a:ln/>
        </p:spPr>
        <p:txBody>
          <a:bodyPr wrap="square" lIns="0" tIns="0" rIns="0" bIns="0" rtlCol="0" anchor="ctr"/>
          <a:lstStyle/>
          <a:p>
            <a:pPr indent="0" marL="0">
              <a:buNone/>
            </a:pPr>
            <a:r>
              <a:rPr lang="en-US" sz="1800" dirty="0">
                <a:solidFill>
                  <a:srgbClr val="8B949E"/>
                </a:solidFill>
                <a:latin typeface="Calibri" pitchFamily="34" charset="0"/>
                <a:ea typeface="Calibri" pitchFamily="34" charset="-122"/>
                <a:cs typeface="Calibri" pitchFamily="34" charset="-120"/>
              </a:rPr>
              <a:t>From zero to a working tool in one hour — no experience, no install.</a:t>
            </a:r>
            <a:endParaRPr lang="en-US" sz="1800" dirty="0"/>
          </a:p>
        </p:txBody>
      </p:sp>
      <p:sp>
        <p:nvSpPr>
          <p:cNvPr id="7" name="Text 5"/>
          <p:cNvSpPr/>
          <p:nvPr/>
        </p:nvSpPr>
        <p:spPr>
          <a:xfrm>
            <a:off x="658368" y="4297680"/>
            <a:ext cx="8229600" cy="365760"/>
          </a:xfrm>
          <a:prstGeom prst="rect">
            <a:avLst/>
          </a:prstGeom>
          <a:noFill/>
          <a:ln/>
        </p:spPr>
        <p:txBody>
          <a:bodyPr wrap="square" lIns="0" tIns="0" rIns="0" bIns="0" rtlCol="0" anchor="ctr"/>
          <a:lstStyle/>
          <a:p>
            <a:pPr indent="0" marL="0">
              <a:buNone/>
            </a:pPr>
            <a:r>
              <a:rPr lang="en-US" sz="1400" b="1" dirty="0">
                <a:solidFill>
                  <a:srgbClr val="58A6FF"/>
                </a:solidFill>
                <a:latin typeface="Calibri" pitchFamily="34" charset="0"/>
                <a:ea typeface="Calibri" pitchFamily="34" charset="-122"/>
                <a:cs typeface="Calibri" pitchFamily="34" charset="-120"/>
              </a:rPr>
              <a:t>From Zero to GPU</a:t>
            </a:r>
            <a:pPr indent="0" marL="0">
              <a:buNone/>
            </a:pPr>
            <a:r>
              <a:rPr lang="en-US" sz="1400" dirty="0">
                <a:solidFill>
                  <a:srgbClr val="8B949E"/>
                </a:solidFill>
                <a:latin typeface="Calibri" pitchFamily="34" charset="0"/>
                <a:ea typeface="Calibri" pitchFamily="34" charset="-122"/>
                <a:cs typeface="Calibri" pitchFamily="34" charset="-120"/>
              </a:rPr>
              <a:t>   ·   session 1 of 3   ·   Linux → CUDA basics → CUDA raytracer</a:t>
            </a:r>
            <a:endParaRPr lang="en-US" sz="1400" dirty="0"/>
          </a:p>
        </p:txBody>
      </p:sp>
      <p:sp>
        <p:nvSpPr>
          <p:cNvPr id="8" name="Shape 6"/>
          <p:cNvSpPr/>
          <p:nvPr/>
        </p:nvSpPr>
        <p:spPr>
          <a:xfrm>
            <a:off x="8366760" y="1737360"/>
            <a:ext cx="3200400" cy="3017520"/>
          </a:xfrm>
          <a:prstGeom prst="roundRect">
            <a:avLst>
              <a:gd name="adj" fmla="val 2424"/>
            </a:avLst>
          </a:prstGeom>
          <a:solidFill>
            <a:srgbClr val="010409"/>
          </a:solidFill>
          <a:ln w="12700">
            <a:solidFill>
              <a:srgbClr val="30363D"/>
            </a:solidFill>
            <a:prstDash val="solid"/>
          </a:ln>
        </p:spPr>
      </p:sp>
      <p:sp>
        <p:nvSpPr>
          <p:cNvPr id="9" name="Shape 7"/>
          <p:cNvSpPr/>
          <p:nvPr/>
        </p:nvSpPr>
        <p:spPr>
          <a:xfrm>
            <a:off x="8531352" y="1883664"/>
            <a:ext cx="109728" cy="109728"/>
          </a:xfrm>
          <a:prstGeom prst="ellipse">
            <a:avLst/>
          </a:prstGeom>
          <a:solidFill>
            <a:srgbClr val="F85149"/>
          </a:solidFill>
          <a:ln/>
        </p:spPr>
      </p:sp>
      <p:sp>
        <p:nvSpPr>
          <p:cNvPr id="10" name="Shape 8"/>
          <p:cNvSpPr/>
          <p:nvPr/>
        </p:nvSpPr>
        <p:spPr>
          <a:xfrm>
            <a:off x="8732520" y="1883664"/>
            <a:ext cx="109728" cy="109728"/>
          </a:xfrm>
          <a:prstGeom prst="ellipse">
            <a:avLst/>
          </a:prstGeom>
          <a:solidFill>
            <a:srgbClr val="D29922"/>
          </a:solidFill>
          <a:ln/>
        </p:spPr>
      </p:sp>
      <p:sp>
        <p:nvSpPr>
          <p:cNvPr id="11" name="Shape 9"/>
          <p:cNvSpPr/>
          <p:nvPr/>
        </p:nvSpPr>
        <p:spPr>
          <a:xfrm>
            <a:off x="8933688" y="1883664"/>
            <a:ext cx="109728" cy="109728"/>
          </a:xfrm>
          <a:prstGeom prst="ellipse">
            <a:avLst/>
          </a:prstGeom>
          <a:solidFill>
            <a:srgbClr val="3FB950"/>
          </a:solidFill>
          <a:ln/>
        </p:spPr>
      </p:sp>
      <p:sp>
        <p:nvSpPr>
          <p:cNvPr id="12" name="Shape 10"/>
          <p:cNvSpPr/>
          <p:nvPr/>
        </p:nvSpPr>
        <p:spPr>
          <a:xfrm>
            <a:off x="8366760" y="2157984"/>
            <a:ext cx="3200400" cy="0"/>
          </a:xfrm>
          <a:prstGeom prst="line">
            <a:avLst/>
          </a:prstGeom>
          <a:noFill/>
          <a:ln w="12700">
            <a:solidFill>
              <a:srgbClr val="30363D"/>
            </a:solidFill>
            <a:prstDash val="solid"/>
          </a:ln>
        </p:spPr>
      </p:sp>
      <p:sp>
        <p:nvSpPr>
          <p:cNvPr id="13" name="Text 11"/>
          <p:cNvSpPr/>
          <p:nvPr/>
        </p:nvSpPr>
        <p:spPr>
          <a:xfrm>
            <a:off x="8567928" y="2286000"/>
            <a:ext cx="2798064" cy="2331720"/>
          </a:xfrm>
          <a:prstGeom prst="rect">
            <a:avLst/>
          </a:prstGeom>
          <a:noFill/>
          <a:ln/>
        </p:spPr>
        <p:txBody>
          <a:bodyPr wrap="square" lIns="0" tIns="0" rIns="0" bIns="0" rtlCol="0" anchor="t"/>
          <a:lstStyle/>
          <a:p>
            <a:pPr algn="l" indent="0" marL="0">
              <a:lnSpc>
                <a:spcPct val="108000"/>
              </a:lnSpc>
              <a:buNone/>
            </a:pPr>
            <a:r>
              <a:rPr lang="en-US" sz="1400" dirty="0">
                <a:solidFill>
                  <a:srgbClr val="3FB950"/>
                </a:solidFill>
                <a:latin typeface="Courier New" pitchFamily="34" charset="0"/>
                <a:ea typeface="Courier New" pitchFamily="34" charset="-122"/>
                <a:cs typeface="Courier New" pitchFamily="34" charset="-120"/>
              </a:rPr>
              <a:t>$ whoami</a:t>
            </a:r>
            <a:endParaRPr lang="en-US" sz="1400" dirty="0"/>
          </a:p>
          <a:p>
            <a:pPr algn="l" indent="0" marL="0">
              <a:lnSpc>
                <a:spcPct val="108000"/>
              </a:lnSpc>
              <a:buNone/>
            </a:pPr>
            <a:r>
              <a:rPr lang="en-US" sz="1400" dirty="0">
                <a:solidFill>
                  <a:srgbClr val="E6EDF3"/>
                </a:solidFill>
                <a:latin typeface="Courier New" pitchFamily="34" charset="0"/>
                <a:ea typeface="Courier New" pitchFamily="34" charset="-122"/>
                <a:cs typeface="Courier New" pitchFamily="34" charset="-120"/>
              </a:rPr>
              <a:t>future sysadmin</a:t>
            </a:r>
            <a:endParaRPr lang="en-US" sz="1400" dirty="0"/>
          </a:p>
          <a:p>
            <a:pPr algn="l" indent="0" marL="0">
              <a:lnSpc>
                <a:spcPct val="108000"/>
              </a:lnSpc>
              <a:buNone/>
            </a:pPr>
            <a:endParaRPr lang="en-US" sz="1400" dirty="0"/>
          </a:p>
          <a:p>
            <a:pPr algn="l" indent="0" marL="0">
              <a:lnSpc>
                <a:spcPct val="108000"/>
              </a:lnSpc>
              <a:buNone/>
            </a:pPr>
            <a:r>
              <a:rPr lang="en-US" sz="1400" dirty="0">
                <a:solidFill>
                  <a:srgbClr val="3FB950"/>
                </a:solidFill>
                <a:latin typeface="Courier New" pitchFamily="34" charset="0"/>
                <a:ea typeface="Courier New" pitchFamily="34" charset="-122"/>
                <a:cs typeface="Courier New" pitchFamily="34" charset="-120"/>
              </a:rPr>
              <a:t>$ ./dashboard.sh</a:t>
            </a:r>
            <a:endParaRPr lang="en-US" sz="1400" dirty="0"/>
          </a:p>
          <a:p>
            <a:pPr algn="l" indent="0" marL="0">
              <a:lnSpc>
                <a:spcPct val="108000"/>
              </a:lnSpc>
              <a:buNone/>
            </a:pPr>
            <a:r>
              <a:rPr lang="en-US" sz="1400" dirty="0">
                <a:solidFill>
                  <a:srgbClr val="E6EDF3"/>
                </a:solidFill>
                <a:latin typeface="Courier New" pitchFamily="34" charset="0"/>
                <a:ea typeface="Courier New" pitchFamily="34" charset="-122"/>
                <a:cs typeface="Courier New" pitchFamily="34" charset="-120"/>
              </a:rPr>
              <a:t>  booting command</a:t>
            </a:r>
            <a:endParaRPr lang="en-US" sz="1400" dirty="0"/>
          </a:p>
          <a:p>
            <a:pPr algn="l" indent="0" marL="0">
              <a:lnSpc>
                <a:spcPct val="108000"/>
              </a:lnSpc>
              <a:buNone/>
            </a:pPr>
            <a:r>
              <a:rPr lang="en-US" sz="1400" dirty="0">
                <a:solidFill>
                  <a:srgbClr val="E6EDF3"/>
                </a:solidFill>
                <a:latin typeface="Courier New" pitchFamily="34" charset="0"/>
                <a:ea typeface="Courier New" pitchFamily="34" charset="-122"/>
                <a:cs typeface="Courier New" pitchFamily="34" charset="-120"/>
              </a:rPr>
              <a:t>  center _</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502920"/>
            <a:ext cx="8229600" cy="640080"/>
          </a:xfrm>
          <a:prstGeom prst="rect">
            <a:avLst/>
          </a:prstGeom>
          <a:noFill/>
          <a:ln/>
        </p:spPr>
        <p:txBody>
          <a:bodyPr wrap="square" lIns="0" tIns="0" rIns="0" bIns="0" rtlCol="0" anchor="ctr"/>
          <a:lstStyle/>
          <a:p>
            <a:pPr indent="0" marL="0">
              <a:buNone/>
            </a:pPr>
            <a:r>
              <a:rPr lang="en-US" sz="3600" b="1" dirty="0">
                <a:solidFill>
                  <a:srgbClr val="E6EDF3"/>
                </a:solidFill>
                <a:latin typeface="Arial" pitchFamily="34" charset="0"/>
                <a:ea typeface="Arial" pitchFamily="34" charset="-122"/>
                <a:cs typeface="Arial" pitchFamily="34" charset="-120"/>
              </a:rPr>
              <a:t>What's a terminal?</a:t>
            </a:r>
            <a:endParaRPr lang="en-US" sz="3600" dirty="0"/>
          </a:p>
        </p:txBody>
      </p:sp>
      <p:sp>
        <p:nvSpPr>
          <p:cNvPr id="3" name="Text 1"/>
          <p:cNvSpPr/>
          <p:nvPr/>
        </p:nvSpPr>
        <p:spPr>
          <a:xfrm>
            <a:off x="658368" y="1280160"/>
            <a:ext cx="5852160" cy="914400"/>
          </a:xfrm>
          <a:prstGeom prst="rect">
            <a:avLst/>
          </a:prstGeom>
          <a:noFill/>
          <a:ln/>
        </p:spPr>
        <p:txBody>
          <a:bodyPr wrap="square" lIns="0" tIns="0" rIns="0" bIns="0" rtlCol="0" anchor="ctr"/>
          <a:lstStyle/>
          <a:p>
            <a:pPr indent="0" marL="0">
              <a:buNone/>
            </a:pPr>
            <a:r>
              <a:rPr lang="en-US" sz="1800" dirty="0">
                <a:solidFill>
                  <a:srgbClr val="8B949E"/>
                </a:solidFill>
                <a:latin typeface="Calibri" pitchFamily="34" charset="0"/>
                <a:ea typeface="Calibri" pitchFamily="34" charset="-122"/>
                <a:cs typeface="Calibri" pitchFamily="34" charset="-120"/>
              </a:rPr>
              <a:t>You usually CLICK to tell a computer what to do. A terminal lets you TYPE instead — one command, press Enter, done.</a:t>
            </a:r>
            <a:endParaRPr lang="en-US" sz="1800" dirty="0"/>
          </a:p>
        </p:txBody>
      </p:sp>
      <p:sp>
        <p:nvSpPr>
          <p:cNvPr id="4" name="Shape 2"/>
          <p:cNvSpPr/>
          <p:nvPr/>
        </p:nvSpPr>
        <p:spPr>
          <a:xfrm>
            <a:off x="658368" y="2468880"/>
            <a:ext cx="384048" cy="384048"/>
          </a:xfrm>
          <a:prstGeom prst="ellipse">
            <a:avLst/>
          </a:prstGeom>
          <a:solidFill>
            <a:srgbClr val="3FB950"/>
          </a:solidFill>
          <a:ln/>
        </p:spPr>
      </p:sp>
      <p:sp>
        <p:nvSpPr>
          <p:cNvPr id="5" name="Text 3"/>
          <p:cNvSpPr/>
          <p:nvPr/>
        </p:nvSpPr>
        <p:spPr>
          <a:xfrm>
            <a:off x="658368" y="2468880"/>
            <a:ext cx="384048" cy="384048"/>
          </a:xfrm>
          <a:prstGeom prst="rect">
            <a:avLst/>
          </a:prstGeom>
          <a:noFill/>
          <a:ln/>
        </p:spPr>
        <p:txBody>
          <a:bodyPr wrap="square" lIns="0" tIns="0" rIns="0" bIns="0" rtlCol="0" anchor="ctr"/>
          <a:lstStyle/>
          <a:p>
            <a:pPr algn="ctr" indent="0" marL="0">
              <a:buNone/>
            </a:pPr>
            <a:r>
              <a:rPr lang="en-US" sz="1800" b="1" dirty="0">
                <a:solidFill>
                  <a:srgbClr val="0D1117"/>
                </a:solidFill>
                <a:latin typeface="Courier New" pitchFamily="34" charset="0"/>
                <a:ea typeface="Courier New" pitchFamily="34" charset="-122"/>
                <a:cs typeface="Courier New" pitchFamily="34" charset="-120"/>
              </a:rPr>
              <a:t>›</a:t>
            </a:r>
            <a:endParaRPr lang="en-US" sz="1800" dirty="0"/>
          </a:p>
        </p:txBody>
      </p:sp>
      <p:sp>
        <p:nvSpPr>
          <p:cNvPr id="6" name="Text 4"/>
          <p:cNvSpPr/>
          <p:nvPr/>
        </p:nvSpPr>
        <p:spPr>
          <a:xfrm>
            <a:off x="1188720" y="2423160"/>
            <a:ext cx="5394960" cy="502920"/>
          </a:xfrm>
          <a:prstGeom prst="rect">
            <a:avLst/>
          </a:prstGeom>
          <a:noFill/>
          <a:ln/>
        </p:spPr>
        <p:txBody>
          <a:bodyPr wrap="square" lIns="0" tIns="0" rIns="0" bIns="0" rtlCol="0" anchor="ctr"/>
          <a:lstStyle/>
          <a:p>
            <a:pPr indent="0" marL="0">
              <a:buNone/>
            </a:pPr>
            <a:r>
              <a:rPr lang="en-US" sz="1500" b="1" dirty="0">
                <a:solidFill>
                  <a:srgbClr val="E6EDF3"/>
                </a:solidFill>
                <a:latin typeface="Calibri" pitchFamily="34" charset="0"/>
                <a:ea typeface="Calibri" pitchFamily="34" charset="-122"/>
                <a:cs typeface="Calibri" pitchFamily="34" charset="-120"/>
              </a:rPr>
              <a:t>Fast &amp; exact   </a:t>
            </a:r>
            <a:pPr indent="0" marL="0">
              <a:buNone/>
            </a:pPr>
            <a:r>
              <a:rPr lang="en-US" sz="1500" dirty="0">
                <a:solidFill>
                  <a:srgbClr val="8B949E"/>
                </a:solidFill>
                <a:latin typeface="Calibri" pitchFamily="34" charset="0"/>
                <a:ea typeface="Calibri" pitchFamily="34" charset="-122"/>
                <a:cs typeface="Calibri" pitchFamily="34" charset="-120"/>
              </a:rPr>
              <a:t>One line does what 20 clicks would.</a:t>
            </a:r>
            <a:endParaRPr lang="en-US" sz="1500" dirty="0"/>
          </a:p>
        </p:txBody>
      </p:sp>
      <p:sp>
        <p:nvSpPr>
          <p:cNvPr id="7" name="Shape 5"/>
          <p:cNvSpPr/>
          <p:nvPr/>
        </p:nvSpPr>
        <p:spPr>
          <a:xfrm>
            <a:off x="658368" y="3337560"/>
            <a:ext cx="384048" cy="384048"/>
          </a:xfrm>
          <a:prstGeom prst="ellipse">
            <a:avLst/>
          </a:prstGeom>
          <a:solidFill>
            <a:srgbClr val="3FB950"/>
          </a:solidFill>
          <a:ln/>
        </p:spPr>
      </p:sp>
      <p:sp>
        <p:nvSpPr>
          <p:cNvPr id="8" name="Text 6"/>
          <p:cNvSpPr/>
          <p:nvPr/>
        </p:nvSpPr>
        <p:spPr>
          <a:xfrm>
            <a:off x="658368" y="3337560"/>
            <a:ext cx="384048" cy="384048"/>
          </a:xfrm>
          <a:prstGeom prst="rect">
            <a:avLst/>
          </a:prstGeom>
          <a:noFill/>
          <a:ln/>
        </p:spPr>
        <p:txBody>
          <a:bodyPr wrap="square" lIns="0" tIns="0" rIns="0" bIns="0" rtlCol="0" anchor="ctr"/>
          <a:lstStyle/>
          <a:p>
            <a:pPr algn="ctr" indent="0" marL="0">
              <a:buNone/>
            </a:pPr>
            <a:r>
              <a:rPr lang="en-US" sz="1800" b="1" dirty="0">
                <a:solidFill>
                  <a:srgbClr val="0D1117"/>
                </a:solidFill>
                <a:latin typeface="Courier New" pitchFamily="34" charset="0"/>
                <a:ea typeface="Courier New" pitchFamily="34" charset="-122"/>
                <a:cs typeface="Courier New" pitchFamily="34" charset="-120"/>
              </a:rPr>
              <a:t>›</a:t>
            </a:r>
            <a:endParaRPr lang="en-US" sz="1800" dirty="0"/>
          </a:p>
        </p:txBody>
      </p:sp>
      <p:sp>
        <p:nvSpPr>
          <p:cNvPr id="9" name="Text 7"/>
          <p:cNvSpPr/>
          <p:nvPr/>
        </p:nvSpPr>
        <p:spPr>
          <a:xfrm>
            <a:off x="1188720" y="3291840"/>
            <a:ext cx="5394960" cy="502920"/>
          </a:xfrm>
          <a:prstGeom prst="rect">
            <a:avLst/>
          </a:prstGeom>
          <a:noFill/>
          <a:ln/>
        </p:spPr>
        <p:txBody>
          <a:bodyPr wrap="square" lIns="0" tIns="0" rIns="0" bIns="0" rtlCol="0" anchor="ctr"/>
          <a:lstStyle/>
          <a:p>
            <a:pPr indent="0" marL="0">
              <a:buNone/>
            </a:pPr>
            <a:r>
              <a:rPr lang="en-US" sz="1500" b="1" dirty="0">
                <a:solidFill>
                  <a:srgbClr val="E6EDF3"/>
                </a:solidFill>
                <a:latin typeface="Calibri" pitchFamily="34" charset="0"/>
                <a:ea typeface="Calibri" pitchFamily="34" charset="-122"/>
                <a:cs typeface="Calibri" pitchFamily="34" charset="-120"/>
              </a:rPr>
              <a:t>Repeatable   </a:t>
            </a:r>
            <a:pPr indent="0" marL="0">
              <a:buNone/>
            </a:pPr>
            <a:r>
              <a:rPr lang="en-US" sz="1500" dirty="0">
                <a:solidFill>
                  <a:srgbClr val="8B949E"/>
                </a:solidFill>
                <a:latin typeface="Calibri" pitchFamily="34" charset="0"/>
                <a:ea typeface="Calibri" pitchFamily="34" charset="-122"/>
                <a:cs typeface="Calibri" pitchFamily="34" charset="-120"/>
              </a:rPr>
              <a:t>Save commands in a file — that's a script. You'll write one today.</a:t>
            </a:r>
            <a:endParaRPr lang="en-US" sz="1500" dirty="0"/>
          </a:p>
        </p:txBody>
      </p:sp>
      <p:sp>
        <p:nvSpPr>
          <p:cNvPr id="10" name="Shape 8"/>
          <p:cNvSpPr/>
          <p:nvPr/>
        </p:nvSpPr>
        <p:spPr>
          <a:xfrm>
            <a:off x="658368" y="4206240"/>
            <a:ext cx="384048" cy="384048"/>
          </a:xfrm>
          <a:prstGeom prst="ellipse">
            <a:avLst/>
          </a:prstGeom>
          <a:solidFill>
            <a:srgbClr val="3FB950"/>
          </a:solidFill>
          <a:ln/>
        </p:spPr>
      </p:sp>
      <p:sp>
        <p:nvSpPr>
          <p:cNvPr id="11" name="Text 9"/>
          <p:cNvSpPr/>
          <p:nvPr/>
        </p:nvSpPr>
        <p:spPr>
          <a:xfrm>
            <a:off x="658368" y="4206240"/>
            <a:ext cx="384048" cy="384048"/>
          </a:xfrm>
          <a:prstGeom prst="rect">
            <a:avLst/>
          </a:prstGeom>
          <a:noFill/>
          <a:ln/>
        </p:spPr>
        <p:txBody>
          <a:bodyPr wrap="square" lIns="0" tIns="0" rIns="0" bIns="0" rtlCol="0" anchor="ctr"/>
          <a:lstStyle/>
          <a:p>
            <a:pPr algn="ctr" indent="0" marL="0">
              <a:buNone/>
            </a:pPr>
            <a:r>
              <a:rPr lang="en-US" sz="1800" b="1" dirty="0">
                <a:solidFill>
                  <a:srgbClr val="0D1117"/>
                </a:solidFill>
                <a:latin typeface="Courier New" pitchFamily="34" charset="0"/>
                <a:ea typeface="Courier New" pitchFamily="34" charset="-122"/>
                <a:cs typeface="Courier New" pitchFamily="34" charset="-120"/>
              </a:rPr>
              <a:t>›</a:t>
            </a:r>
            <a:endParaRPr lang="en-US" sz="1800" dirty="0"/>
          </a:p>
        </p:txBody>
      </p:sp>
      <p:sp>
        <p:nvSpPr>
          <p:cNvPr id="12" name="Text 10"/>
          <p:cNvSpPr/>
          <p:nvPr/>
        </p:nvSpPr>
        <p:spPr>
          <a:xfrm>
            <a:off x="1188720" y="4160520"/>
            <a:ext cx="5394960" cy="502920"/>
          </a:xfrm>
          <a:prstGeom prst="rect">
            <a:avLst/>
          </a:prstGeom>
          <a:noFill/>
          <a:ln/>
        </p:spPr>
        <p:txBody>
          <a:bodyPr wrap="square" lIns="0" tIns="0" rIns="0" bIns="0" rtlCol="0" anchor="ctr"/>
          <a:lstStyle/>
          <a:p>
            <a:pPr indent="0" marL="0">
              <a:buNone/>
            </a:pPr>
            <a:r>
              <a:rPr lang="en-US" sz="1500" b="1" dirty="0">
                <a:solidFill>
                  <a:srgbClr val="E6EDF3"/>
                </a:solidFill>
                <a:latin typeface="Calibri" pitchFamily="34" charset="0"/>
                <a:ea typeface="Calibri" pitchFamily="34" charset="-122"/>
                <a:cs typeface="Calibri" pitchFamily="34" charset="-120"/>
              </a:rPr>
              <a:t>How GPUs work   </a:t>
            </a:r>
            <a:pPr indent="0" marL="0">
              <a:buNone/>
            </a:pPr>
            <a:r>
              <a:rPr lang="en-US" sz="1500" dirty="0">
                <a:solidFill>
                  <a:srgbClr val="8B949E"/>
                </a:solidFill>
                <a:latin typeface="Calibri" pitchFamily="34" charset="0"/>
                <a:ea typeface="Calibri" pitchFamily="34" charset="-122"/>
                <a:cs typeface="Calibri" pitchFamily="34" charset="-120"/>
              </a:rPr>
              <a:t>The machines that run AI have no mouse. Typing is the only way in.</a:t>
            </a:r>
            <a:endParaRPr lang="en-US" sz="1500" dirty="0"/>
          </a:p>
        </p:txBody>
      </p:sp>
      <p:sp>
        <p:nvSpPr>
          <p:cNvPr id="13" name="Shape 11"/>
          <p:cNvSpPr/>
          <p:nvPr/>
        </p:nvSpPr>
        <p:spPr>
          <a:xfrm>
            <a:off x="7132320" y="1463040"/>
            <a:ext cx="4434840" cy="3566160"/>
          </a:xfrm>
          <a:prstGeom prst="roundRect">
            <a:avLst>
              <a:gd name="adj" fmla="val 2051"/>
            </a:avLst>
          </a:prstGeom>
          <a:solidFill>
            <a:srgbClr val="010409"/>
          </a:solidFill>
          <a:ln w="12700">
            <a:solidFill>
              <a:srgbClr val="30363D"/>
            </a:solidFill>
            <a:prstDash val="solid"/>
          </a:ln>
        </p:spPr>
      </p:sp>
      <p:sp>
        <p:nvSpPr>
          <p:cNvPr id="14" name="Shape 12"/>
          <p:cNvSpPr/>
          <p:nvPr/>
        </p:nvSpPr>
        <p:spPr>
          <a:xfrm>
            <a:off x="7296912" y="1609344"/>
            <a:ext cx="109728" cy="109728"/>
          </a:xfrm>
          <a:prstGeom prst="ellipse">
            <a:avLst/>
          </a:prstGeom>
          <a:solidFill>
            <a:srgbClr val="F85149"/>
          </a:solidFill>
          <a:ln/>
        </p:spPr>
      </p:sp>
      <p:sp>
        <p:nvSpPr>
          <p:cNvPr id="15" name="Shape 13"/>
          <p:cNvSpPr/>
          <p:nvPr/>
        </p:nvSpPr>
        <p:spPr>
          <a:xfrm>
            <a:off x="7498080" y="1609344"/>
            <a:ext cx="109728" cy="109728"/>
          </a:xfrm>
          <a:prstGeom prst="ellipse">
            <a:avLst/>
          </a:prstGeom>
          <a:solidFill>
            <a:srgbClr val="D29922"/>
          </a:solidFill>
          <a:ln/>
        </p:spPr>
      </p:sp>
      <p:sp>
        <p:nvSpPr>
          <p:cNvPr id="16" name="Shape 14"/>
          <p:cNvSpPr/>
          <p:nvPr/>
        </p:nvSpPr>
        <p:spPr>
          <a:xfrm>
            <a:off x="7699248" y="1609344"/>
            <a:ext cx="109728" cy="109728"/>
          </a:xfrm>
          <a:prstGeom prst="ellipse">
            <a:avLst/>
          </a:prstGeom>
          <a:solidFill>
            <a:srgbClr val="3FB950"/>
          </a:solidFill>
          <a:ln/>
        </p:spPr>
      </p:sp>
      <p:sp>
        <p:nvSpPr>
          <p:cNvPr id="17" name="Shape 15"/>
          <p:cNvSpPr/>
          <p:nvPr/>
        </p:nvSpPr>
        <p:spPr>
          <a:xfrm>
            <a:off x="7132320" y="1883664"/>
            <a:ext cx="4434840" cy="0"/>
          </a:xfrm>
          <a:prstGeom prst="line">
            <a:avLst/>
          </a:prstGeom>
          <a:noFill/>
          <a:ln w="12700">
            <a:solidFill>
              <a:srgbClr val="30363D"/>
            </a:solidFill>
            <a:prstDash val="solid"/>
          </a:ln>
        </p:spPr>
      </p:sp>
      <p:sp>
        <p:nvSpPr>
          <p:cNvPr id="18" name="Text 16"/>
          <p:cNvSpPr/>
          <p:nvPr/>
        </p:nvSpPr>
        <p:spPr>
          <a:xfrm>
            <a:off x="7333488" y="2011680"/>
            <a:ext cx="4032504" cy="2880360"/>
          </a:xfrm>
          <a:prstGeom prst="rect">
            <a:avLst/>
          </a:prstGeom>
          <a:noFill/>
          <a:ln/>
        </p:spPr>
        <p:txBody>
          <a:bodyPr wrap="square" lIns="0" tIns="0" rIns="0" bIns="0" rtlCol="0" anchor="t"/>
          <a:lstStyle/>
          <a:p>
            <a:pPr algn="l" indent="0" marL="0">
              <a:lnSpc>
                <a:spcPct val="108000"/>
              </a:lnSpc>
              <a:buNone/>
            </a:pPr>
            <a:r>
              <a:rPr lang="en-US" sz="1400" dirty="0">
                <a:solidFill>
                  <a:srgbClr val="3FB950"/>
                </a:solidFill>
                <a:latin typeface="Courier New" pitchFamily="34" charset="0"/>
                <a:ea typeface="Courier New" pitchFamily="34" charset="-122"/>
                <a:cs typeface="Courier New" pitchFamily="34" charset="-120"/>
              </a:rPr>
              <a:t>$ whoami</a:t>
            </a:r>
            <a:endParaRPr lang="en-US" sz="1400" dirty="0"/>
          </a:p>
          <a:p>
            <a:pPr algn="l" indent="0" marL="0">
              <a:lnSpc>
                <a:spcPct val="108000"/>
              </a:lnSpc>
              <a:buNone/>
            </a:pPr>
            <a:r>
              <a:rPr lang="en-US" sz="1400" dirty="0">
                <a:solidFill>
                  <a:srgbClr val="E6EDF3"/>
                </a:solidFill>
                <a:latin typeface="Courier New" pitchFamily="34" charset="0"/>
                <a:ea typeface="Courier New" pitchFamily="34" charset="-122"/>
                <a:cs typeface="Courier New" pitchFamily="34" charset="-120"/>
              </a:rPr>
              <a:t>student</a:t>
            </a:r>
            <a:endParaRPr lang="en-US" sz="1400" dirty="0"/>
          </a:p>
          <a:p>
            <a:pPr algn="l" indent="0" marL="0">
              <a:lnSpc>
                <a:spcPct val="108000"/>
              </a:lnSpc>
              <a:buNone/>
            </a:pPr>
            <a:endParaRPr lang="en-US" sz="1400" dirty="0"/>
          </a:p>
          <a:p>
            <a:pPr algn="l" indent="0" marL="0">
              <a:lnSpc>
                <a:spcPct val="108000"/>
              </a:lnSpc>
              <a:buNone/>
            </a:pPr>
            <a:r>
              <a:rPr lang="en-US" sz="1400" dirty="0">
                <a:solidFill>
                  <a:srgbClr val="8B949E"/>
                </a:solidFill>
                <a:latin typeface="Courier New" pitchFamily="34" charset="0"/>
                <a:ea typeface="Courier New" pitchFamily="34" charset="-122"/>
                <a:cs typeface="Courier New" pitchFamily="34" charset="-120"/>
              </a:rPr>
              <a:t># you just asked the computer</a:t>
            </a:r>
            <a:endParaRPr lang="en-US" sz="1400" dirty="0"/>
          </a:p>
          <a:p>
            <a:pPr algn="l" indent="0" marL="0">
              <a:lnSpc>
                <a:spcPct val="108000"/>
              </a:lnSpc>
              <a:buNone/>
            </a:pPr>
            <a:r>
              <a:rPr lang="en-US" sz="1400" dirty="0">
                <a:solidFill>
                  <a:srgbClr val="8B949E"/>
                </a:solidFill>
                <a:latin typeface="Courier New" pitchFamily="34" charset="0"/>
                <a:ea typeface="Courier New" pitchFamily="34" charset="-122"/>
                <a:cs typeface="Courier New" pitchFamily="34" charset="-120"/>
              </a:rPr>
              <a:t># "who am I?" — it answered.</a:t>
            </a:r>
            <a:endParaRPr lang="en-US" sz="1400" dirty="0"/>
          </a:p>
          <a:p>
            <a:pPr algn="l" indent="0" marL="0">
              <a:lnSpc>
                <a:spcPct val="108000"/>
              </a:lnSpc>
              <a:buNone/>
            </a:pPr>
            <a:endParaRPr lang="en-US" sz="1400" dirty="0"/>
          </a:p>
          <a:p>
            <a:pPr algn="l" indent="0" marL="0">
              <a:lnSpc>
                <a:spcPct val="108000"/>
              </a:lnSpc>
              <a:buNone/>
            </a:pPr>
            <a:r>
              <a:rPr lang="en-US" sz="1400" dirty="0">
                <a:solidFill>
                  <a:srgbClr val="3FB950"/>
                </a:solidFill>
                <a:latin typeface="Courier New" pitchFamily="34" charset="0"/>
                <a:ea typeface="Courier New" pitchFamily="34" charset="-122"/>
                <a:cs typeface="Courier New" pitchFamily="34" charset="-120"/>
              </a:rPr>
              <a:t>$ _</a:t>
            </a:r>
            <a:endParaRPr lang="en-US" sz="1400" dirty="0"/>
          </a:p>
        </p:txBody>
      </p:sp>
      <p:sp>
        <p:nvSpPr>
          <p:cNvPr id="19" name="Text 17"/>
          <p:cNvSpPr/>
          <p:nvPr/>
        </p:nvSpPr>
        <p:spPr>
          <a:xfrm>
            <a:off x="658368" y="5897880"/>
            <a:ext cx="10972800" cy="548640"/>
          </a:xfrm>
          <a:prstGeom prst="rect">
            <a:avLst/>
          </a:prstGeom>
          <a:noFill/>
          <a:ln/>
        </p:spPr>
        <p:txBody>
          <a:bodyPr wrap="square" lIns="0" tIns="0" rIns="0" bIns="0" rtlCol="0" anchor="ctr"/>
          <a:lstStyle/>
          <a:p>
            <a:pPr indent="0" marL="0">
              <a:buNone/>
            </a:pPr>
            <a:r>
              <a:rPr lang="en-US" sz="1300" i="1" dirty="0">
                <a:solidFill>
                  <a:srgbClr val="D29922"/>
                </a:solidFill>
                <a:latin typeface="Calibri" pitchFamily="34" charset="0"/>
                <a:ea typeface="Calibri" pitchFamily="34" charset="-122"/>
                <a:cs typeface="Calibri" pitchFamily="34" charset="-120"/>
              </a:rPr>
              <a:t>Rule: it does EXACTLY what you type. Caps and spaces matter. A command that fails is almost always a typo — look closely, try again.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502920"/>
            <a:ext cx="8229600" cy="640080"/>
          </a:xfrm>
          <a:prstGeom prst="rect">
            <a:avLst/>
          </a:prstGeom>
          <a:noFill/>
          <a:ln/>
        </p:spPr>
        <p:txBody>
          <a:bodyPr wrap="square" lIns="0" tIns="0" rIns="0" bIns="0" rtlCol="0" anchor="ctr"/>
          <a:lstStyle/>
          <a:p>
            <a:pPr indent="0" marL="0">
              <a:buNone/>
            </a:pPr>
            <a:r>
              <a:rPr lang="en-US" sz="3600" b="1" dirty="0">
                <a:solidFill>
                  <a:srgbClr val="E6EDF3"/>
                </a:solidFill>
                <a:latin typeface="Arial" pitchFamily="34" charset="0"/>
                <a:ea typeface="Arial" pitchFamily="34" charset="-122"/>
                <a:cs typeface="Arial" pitchFamily="34" charset="-120"/>
              </a:rPr>
              <a:t>Your mission: a live dashboard</a:t>
            </a:r>
            <a:endParaRPr lang="en-US" sz="3600" dirty="0"/>
          </a:p>
        </p:txBody>
      </p:sp>
      <p:sp>
        <p:nvSpPr>
          <p:cNvPr id="3" name="Text 1"/>
          <p:cNvSpPr/>
          <p:nvPr/>
        </p:nvSpPr>
        <p:spPr>
          <a:xfrm>
            <a:off x="658368" y="1280160"/>
            <a:ext cx="5760720" cy="1188720"/>
          </a:xfrm>
          <a:prstGeom prst="rect">
            <a:avLst/>
          </a:prstGeom>
          <a:noFill/>
          <a:ln/>
        </p:spPr>
        <p:txBody>
          <a:bodyPr wrap="square" lIns="0" tIns="0" rIns="0" bIns="0" rtlCol="0" anchor="ctr"/>
          <a:lstStyle/>
          <a:p>
            <a:pPr indent="0" marL="0">
              <a:buNone/>
            </a:pPr>
            <a:r>
              <a:rPr lang="en-US" sz="1800" dirty="0">
                <a:solidFill>
                  <a:srgbClr val="8B949E"/>
                </a:solidFill>
                <a:latin typeface="Calibri" pitchFamily="34" charset="0"/>
                <a:ea typeface="Calibri" pitchFamily="34" charset="-122"/>
                <a:cs typeface="Calibri" pitchFamily="34" charset="-120"/>
              </a:rPr>
              <a:t>You build ONE real tool, one command at a time — a system dashboard that reports your machine's uptime, disk, memory, and alerts from a log.</a:t>
            </a:r>
            <a:endParaRPr lang="en-US" sz="1800" dirty="0"/>
          </a:p>
        </p:txBody>
      </p:sp>
      <p:sp>
        <p:nvSpPr>
          <p:cNvPr id="4" name="Text 2"/>
          <p:cNvSpPr/>
          <p:nvPr/>
        </p:nvSpPr>
        <p:spPr>
          <a:xfrm>
            <a:off x="658368" y="2651760"/>
            <a:ext cx="5760720" cy="1463040"/>
          </a:xfrm>
          <a:prstGeom prst="rect">
            <a:avLst/>
          </a:prstGeom>
          <a:noFill/>
          <a:ln/>
        </p:spPr>
        <p:txBody>
          <a:bodyPr wrap="square" lIns="0" tIns="0" rIns="0" bIns="0" rtlCol="0" anchor="ctr"/>
          <a:lstStyle/>
          <a:p>
            <a:pPr indent="0" marL="0">
              <a:spcAft>
                <a:spcPts val="800"/>
              </a:spcAft>
              <a:buNone/>
            </a:pPr>
            <a:r>
              <a:rPr lang="en-US" sz="1500" b="1" dirty="0">
                <a:solidFill>
                  <a:srgbClr val="E6EDF3"/>
                </a:solidFill>
                <a:latin typeface="Calibri" pitchFamily="34" charset="0"/>
                <a:ea typeface="Calibri" pitchFamily="34" charset="-122"/>
                <a:cs typeface="Calibri" pitchFamily="34" charset="-120"/>
              </a:rPr>
              <a:t>Not ten disconnected exercises.  </a:t>
            </a:r>
            <a:endParaRPr lang="en-US" sz="1500" dirty="0"/>
          </a:p>
          <a:p>
            <a:pPr indent="0" marL="0">
              <a:buNone/>
            </a:pPr>
            <a:r>
              <a:rPr lang="en-US" sz="1500" dirty="0">
                <a:solidFill>
                  <a:srgbClr val="8B949E"/>
                </a:solidFill>
                <a:latin typeface="Calibri" pitchFamily="34" charset="0"/>
                <a:ea typeface="Calibri" pitchFamily="34" charset="-122"/>
                <a:cs typeface="Calibri" pitchFamily="34" charset="-120"/>
              </a:rPr>
              <a:t>Every command you learn is a step toward finishing it. At the end, you run one line and it lights up.</a:t>
            </a:r>
            <a:endParaRPr lang="en-US" sz="1500" dirty="0"/>
          </a:p>
        </p:txBody>
      </p:sp>
      <p:sp>
        <p:nvSpPr>
          <p:cNvPr id="5" name="Text 3"/>
          <p:cNvSpPr/>
          <p:nvPr/>
        </p:nvSpPr>
        <p:spPr>
          <a:xfrm>
            <a:off x="658368" y="5394960"/>
            <a:ext cx="5486400" cy="365760"/>
          </a:xfrm>
          <a:prstGeom prst="rect">
            <a:avLst/>
          </a:prstGeom>
          <a:noFill/>
          <a:ln/>
        </p:spPr>
        <p:txBody>
          <a:bodyPr wrap="square" lIns="0" tIns="0" rIns="0" bIns="0" rtlCol="0" anchor="ctr"/>
          <a:lstStyle/>
          <a:p>
            <a:pPr indent="0" marL="0">
              <a:buNone/>
            </a:pPr>
            <a:r>
              <a:rPr lang="en-US" sz="1300" dirty="0">
                <a:solidFill>
                  <a:srgbClr val="3FB950"/>
                </a:solidFill>
                <a:latin typeface="Courier New" pitchFamily="34" charset="0"/>
                <a:ea typeface="Courier New" pitchFamily="34" charset="-122"/>
                <a:cs typeface="Courier New" pitchFamily="34" charset="-120"/>
              </a:rPr>
              <a:t>↓ what you'll have at the end</a:t>
            </a:r>
            <a:endParaRPr lang="en-US" sz="1300" dirty="0"/>
          </a:p>
        </p:txBody>
      </p:sp>
      <p:sp>
        <p:nvSpPr>
          <p:cNvPr id="6" name="Shape 4"/>
          <p:cNvSpPr/>
          <p:nvPr/>
        </p:nvSpPr>
        <p:spPr>
          <a:xfrm>
            <a:off x="6949440" y="1234440"/>
            <a:ext cx="4617720" cy="5120640"/>
          </a:xfrm>
          <a:prstGeom prst="roundRect">
            <a:avLst>
              <a:gd name="adj" fmla="val 1584"/>
            </a:avLst>
          </a:prstGeom>
          <a:solidFill>
            <a:srgbClr val="010409"/>
          </a:solidFill>
          <a:ln w="12700">
            <a:solidFill>
              <a:srgbClr val="30363D"/>
            </a:solidFill>
            <a:prstDash val="solid"/>
          </a:ln>
        </p:spPr>
      </p:sp>
      <p:sp>
        <p:nvSpPr>
          <p:cNvPr id="7" name="Shape 5"/>
          <p:cNvSpPr/>
          <p:nvPr/>
        </p:nvSpPr>
        <p:spPr>
          <a:xfrm>
            <a:off x="7114032" y="1380744"/>
            <a:ext cx="109728" cy="109728"/>
          </a:xfrm>
          <a:prstGeom prst="ellipse">
            <a:avLst/>
          </a:prstGeom>
          <a:solidFill>
            <a:srgbClr val="F85149"/>
          </a:solidFill>
          <a:ln/>
        </p:spPr>
      </p:sp>
      <p:sp>
        <p:nvSpPr>
          <p:cNvPr id="8" name="Shape 6"/>
          <p:cNvSpPr/>
          <p:nvPr/>
        </p:nvSpPr>
        <p:spPr>
          <a:xfrm>
            <a:off x="7315200" y="1380744"/>
            <a:ext cx="109728" cy="109728"/>
          </a:xfrm>
          <a:prstGeom prst="ellipse">
            <a:avLst/>
          </a:prstGeom>
          <a:solidFill>
            <a:srgbClr val="D29922"/>
          </a:solidFill>
          <a:ln/>
        </p:spPr>
      </p:sp>
      <p:sp>
        <p:nvSpPr>
          <p:cNvPr id="9" name="Shape 7"/>
          <p:cNvSpPr/>
          <p:nvPr/>
        </p:nvSpPr>
        <p:spPr>
          <a:xfrm>
            <a:off x="7516368" y="1380744"/>
            <a:ext cx="109728" cy="109728"/>
          </a:xfrm>
          <a:prstGeom prst="ellipse">
            <a:avLst/>
          </a:prstGeom>
          <a:solidFill>
            <a:srgbClr val="3FB950"/>
          </a:solidFill>
          <a:ln/>
        </p:spPr>
      </p:sp>
      <p:sp>
        <p:nvSpPr>
          <p:cNvPr id="10" name="Shape 8"/>
          <p:cNvSpPr/>
          <p:nvPr/>
        </p:nvSpPr>
        <p:spPr>
          <a:xfrm>
            <a:off x="6949440" y="1655064"/>
            <a:ext cx="4617720" cy="0"/>
          </a:xfrm>
          <a:prstGeom prst="line">
            <a:avLst/>
          </a:prstGeom>
          <a:noFill/>
          <a:ln w="12700">
            <a:solidFill>
              <a:srgbClr val="30363D"/>
            </a:solidFill>
            <a:prstDash val="solid"/>
          </a:ln>
        </p:spPr>
      </p:sp>
      <p:sp>
        <p:nvSpPr>
          <p:cNvPr id="11" name="Text 9"/>
          <p:cNvSpPr/>
          <p:nvPr/>
        </p:nvSpPr>
        <p:spPr>
          <a:xfrm>
            <a:off x="7150608" y="1783080"/>
            <a:ext cx="4215384" cy="4434840"/>
          </a:xfrm>
          <a:prstGeom prst="rect">
            <a:avLst/>
          </a:prstGeom>
          <a:noFill/>
          <a:ln/>
        </p:spPr>
        <p:txBody>
          <a:bodyPr wrap="square" lIns="0" tIns="0" rIns="0" bIns="0" rtlCol="0" anchor="t"/>
          <a:lstStyle/>
          <a:p>
            <a:pPr algn="l" indent="0" marL="0">
              <a:lnSpc>
                <a:spcPct val="108000"/>
              </a:lnSpc>
              <a:buNone/>
            </a:pPr>
            <a:r>
              <a:rPr lang="en-US" sz="1250" dirty="0">
                <a:solidFill>
                  <a:srgbClr val="8B949E"/>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b="1" dirty="0">
                <a:solidFill>
                  <a:srgbClr val="3FB950"/>
                </a:solidFill>
                <a:latin typeface="Courier New" pitchFamily="34" charset="0"/>
                <a:ea typeface="Courier New" pitchFamily="34" charset="-122"/>
                <a:cs typeface="Courier New" pitchFamily="34" charset="-120"/>
              </a:rPr>
              <a:t>   COMMAND CENTER</a:t>
            </a:r>
            <a:endParaRPr lang="en-US" sz="1250" dirty="0"/>
          </a:p>
          <a:p>
            <a:pPr algn="l" indent="0" marL="0">
              <a:lnSpc>
                <a:spcPct val="108000"/>
              </a:lnSpc>
              <a:buNone/>
            </a:pPr>
            <a:r>
              <a:rPr lang="en-US" sz="1250" dirty="0">
                <a:solidFill>
                  <a:srgbClr val="E6EDF3"/>
                </a:solidFill>
                <a:latin typeface="Courier New" pitchFamily="34" charset="0"/>
                <a:ea typeface="Courier New" pitchFamily="34" charset="-122"/>
                <a:cs typeface="Courier New" pitchFamily="34" charset="-120"/>
              </a:rPr>
              <a:t>   student@workstation</a:t>
            </a:r>
            <a:endParaRPr lang="en-US" sz="1250" dirty="0"/>
          </a:p>
          <a:p>
            <a:pPr algn="l" indent="0" marL="0">
              <a:lnSpc>
                <a:spcPct val="108000"/>
              </a:lnSpc>
              <a:buNone/>
            </a:pPr>
            <a:r>
              <a:rPr lang="en-US" sz="1250" dirty="0">
                <a:solidFill>
                  <a:srgbClr val="E6EDF3"/>
                </a:solidFill>
                <a:latin typeface="Courier New" pitchFamily="34" charset="0"/>
                <a:ea typeface="Courier New" pitchFamily="34" charset="-122"/>
                <a:cs typeface="Courier New" pitchFamily="34" charset="-120"/>
              </a:rPr>
              <a:t>   2026-07-20 09:14:02</a:t>
            </a:r>
            <a:endParaRPr lang="en-US" sz="1250" dirty="0"/>
          </a:p>
          <a:p>
            <a:pPr algn="l" indent="0" marL="0">
              <a:lnSpc>
                <a:spcPct val="108000"/>
              </a:lnSpc>
              <a:buNone/>
            </a:pPr>
            <a:r>
              <a:rPr lang="en-US" sz="1250" dirty="0">
                <a:solidFill>
                  <a:srgbClr val="8B949E"/>
                </a:solidFill>
                <a:latin typeface="Courier New" pitchFamily="34" charset="0"/>
                <a:ea typeface="Courier New" pitchFamily="34" charset="-122"/>
                <a:cs typeface="Courier New" pitchFamily="34" charset="-120"/>
              </a:rPr>
              <a:t>==============================</a:t>
            </a:r>
            <a:endParaRPr lang="en-US" sz="1250" dirty="0"/>
          </a:p>
          <a:p>
            <a:pPr algn="l" indent="0" marL="0">
              <a:lnSpc>
                <a:spcPct val="108000"/>
              </a:lnSpc>
              <a:buNone/>
            </a:pPr>
            <a:r>
              <a:rPr lang="en-US" sz="1250" dirty="0">
                <a:solidFill>
                  <a:srgbClr val="E6EDF3"/>
                </a:solidFill>
                <a:latin typeface="Courier New" pitchFamily="34" charset="0"/>
                <a:ea typeface="Courier New" pitchFamily="34" charset="-122"/>
                <a:cs typeface="Courier New" pitchFamily="34" charset="-120"/>
              </a:rPr>
              <a:t>UPTIME:  up 15 minutes</a:t>
            </a:r>
            <a:endParaRPr lang="en-US" sz="1250" dirty="0"/>
          </a:p>
          <a:p>
            <a:pPr algn="l" indent="0" marL="0">
              <a:lnSpc>
                <a:spcPct val="108000"/>
              </a:lnSpc>
              <a:buNone/>
            </a:pPr>
            <a:r>
              <a:rPr lang="en-US" sz="1250" dirty="0">
                <a:solidFill>
                  <a:srgbClr val="E6EDF3"/>
                </a:solidFill>
                <a:latin typeface="Courier New" pitchFamily="34" charset="0"/>
                <a:ea typeface="Courier New" pitchFamily="34" charset="-122"/>
                <a:cs typeface="Courier New" pitchFamily="34" charset="-120"/>
              </a:rPr>
              <a:t>DISK:    5.6G used of 9.6G</a:t>
            </a:r>
            <a:endParaRPr lang="en-US" sz="1250" dirty="0"/>
          </a:p>
          <a:p>
            <a:pPr algn="l" indent="0" marL="0">
              <a:lnSpc>
                <a:spcPct val="108000"/>
              </a:lnSpc>
              <a:buNone/>
            </a:pPr>
            <a:r>
              <a:rPr lang="en-US" sz="1250" dirty="0">
                <a:solidFill>
                  <a:srgbClr val="E6EDF3"/>
                </a:solidFill>
                <a:latin typeface="Courier New" pitchFamily="34" charset="0"/>
                <a:ea typeface="Courier New" pitchFamily="34" charset="-122"/>
                <a:cs typeface="Courier New" pitchFamily="34" charset="-120"/>
              </a:rPr>
              <a:t>MEMORY:  197Mi used of 3.8G</a:t>
            </a:r>
            <a:endParaRPr lang="en-US" sz="1250" dirty="0"/>
          </a:p>
          <a:p>
            <a:pPr algn="l" indent="0" marL="0">
              <a:lnSpc>
                <a:spcPct val="108000"/>
              </a:lnSpc>
              <a:buNone/>
            </a:pPr>
            <a:endParaRPr lang="en-US" sz="1250" dirty="0"/>
          </a:p>
          <a:p>
            <a:pPr algn="l" indent="0" marL="0">
              <a:lnSpc>
                <a:spcPct val="108000"/>
              </a:lnSpc>
              <a:buNone/>
            </a:pPr>
            <a:r>
              <a:rPr lang="en-US" sz="1250" b="1" dirty="0">
                <a:solidFill>
                  <a:srgbClr val="58A6FF"/>
                </a:solidFill>
                <a:latin typeface="Courier New" pitchFamily="34" charset="0"/>
                <a:ea typeface="Courier New" pitchFamily="34" charset="-122"/>
                <a:cs typeface="Courier New" pitchFamily="34" charset="-120"/>
              </a:rPr>
              <a:t>LOG ALERTS:</a:t>
            </a:r>
            <a:endParaRPr lang="en-US" sz="1250" dirty="0"/>
          </a:p>
          <a:p>
            <a:pPr algn="l" indent="0" marL="0">
              <a:lnSpc>
                <a:spcPct val="108000"/>
              </a:lnSpc>
              <a:buNone/>
            </a:pPr>
            <a:r>
              <a:rPr lang="en-US" sz="1250" dirty="0">
                <a:solidFill>
                  <a:srgbClr val="F85149"/>
                </a:solidFill>
                <a:latin typeface="Courier New" pitchFamily="34" charset="0"/>
                <a:ea typeface="Courier New" pitchFamily="34" charset="-122"/>
                <a:cs typeface="Courier New" pitchFamily="34" charset="-120"/>
              </a:rPr>
              <a:t>  Errors found: 29</a:t>
            </a:r>
            <a:endParaRPr lang="en-US" sz="1250" dirty="0"/>
          </a:p>
          <a:p>
            <a:pPr algn="l" indent="0" marL="0">
              <a:lnSpc>
                <a:spcPct val="108000"/>
              </a:lnSpc>
              <a:buNone/>
            </a:pPr>
            <a:r>
              <a:rPr lang="en-US" sz="1250" dirty="0">
                <a:solidFill>
                  <a:srgbClr val="E6EDF3"/>
                </a:solidFill>
                <a:latin typeface="Courier New" pitchFamily="34" charset="0"/>
                <a:ea typeface="Courier New" pitchFamily="34" charset="-122"/>
                <a:cs typeface="Courier New" pitchFamily="34" charset="-120"/>
              </a:rPr>
              <a:t>  Most recent error:</a:t>
            </a:r>
            <a:endParaRPr lang="en-US" sz="1250" dirty="0"/>
          </a:p>
          <a:p>
            <a:pPr algn="l" indent="0" marL="0">
              <a:lnSpc>
                <a:spcPct val="108000"/>
              </a:lnSpc>
              <a:buNone/>
            </a:pPr>
            <a:r>
              <a:rPr lang="en-US" sz="1250" dirty="0">
                <a:solidFill>
                  <a:srgbClr val="8B949E"/>
                </a:solidFill>
                <a:latin typeface="Courier New" pitchFamily="34" charset="0"/>
                <a:ea typeface="Courier New" pitchFamily="34" charset="-122"/>
                <a:cs typeface="Courier New" pitchFamily="34" charset="-120"/>
              </a:rPr>
              <a:t>  auth failure for root</a:t>
            </a:r>
            <a:endParaRPr lang="en-US" sz="1250" dirty="0"/>
          </a:p>
          <a:p>
            <a:pPr algn="l" indent="0" marL="0">
              <a:lnSpc>
                <a:spcPct val="108000"/>
              </a:lnSpc>
              <a:buNone/>
            </a:pPr>
            <a:endParaRPr lang="en-US" sz="1250" dirty="0"/>
          </a:p>
          <a:p>
            <a:pPr algn="l" indent="0" marL="0">
              <a:lnSpc>
                <a:spcPct val="108000"/>
              </a:lnSpc>
              <a:buNone/>
            </a:pPr>
            <a:r>
              <a:rPr lang="en-US" sz="1250" dirty="0">
                <a:solidFill>
                  <a:srgbClr val="3FB950"/>
                </a:solidFill>
                <a:latin typeface="Courier New" pitchFamily="34" charset="0"/>
                <a:ea typeface="Courier New" pitchFamily="34" charset="-122"/>
                <a:cs typeface="Courier New" pitchFamily="34" charset="-120"/>
              </a:rPr>
              <a:t>You are in command.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502920"/>
            <a:ext cx="8229600" cy="640080"/>
          </a:xfrm>
          <a:prstGeom prst="rect">
            <a:avLst/>
          </a:prstGeom>
          <a:noFill/>
          <a:ln/>
        </p:spPr>
        <p:txBody>
          <a:bodyPr wrap="square" lIns="0" tIns="0" rIns="0" bIns="0" rtlCol="0" anchor="ctr"/>
          <a:lstStyle/>
          <a:p>
            <a:pPr indent="0" marL="0">
              <a:buNone/>
            </a:pPr>
            <a:r>
              <a:rPr lang="en-US" sz="3600" b="1" dirty="0">
                <a:solidFill>
                  <a:srgbClr val="E6EDF3"/>
                </a:solidFill>
                <a:latin typeface="Arial" pitchFamily="34" charset="0"/>
                <a:ea typeface="Arial" pitchFamily="34" charset="-122"/>
                <a:cs typeface="Arial" pitchFamily="34" charset="-120"/>
              </a:rPr>
              <a:t>Step 0 — Get your machine</a:t>
            </a:r>
            <a:endParaRPr lang="en-US" sz="3600" dirty="0"/>
          </a:p>
        </p:txBody>
      </p:sp>
      <p:sp>
        <p:nvSpPr>
          <p:cNvPr id="3" name="Text 1"/>
          <p:cNvSpPr/>
          <p:nvPr/>
        </p:nvSpPr>
        <p:spPr>
          <a:xfrm>
            <a:off x="658368" y="1234440"/>
            <a:ext cx="10789920" cy="640080"/>
          </a:xfrm>
          <a:prstGeom prst="rect">
            <a:avLst/>
          </a:prstGeom>
          <a:noFill/>
          <a:ln/>
        </p:spPr>
        <p:txBody>
          <a:bodyPr wrap="square" lIns="0" tIns="0" rIns="0" bIns="0" rtlCol="0" anchor="ctr"/>
          <a:lstStyle/>
          <a:p>
            <a:pPr indent="0" marL="0">
              <a:buNone/>
            </a:pPr>
            <a:r>
              <a:rPr lang="en-US" sz="1700" dirty="0">
                <a:solidFill>
                  <a:srgbClr val="8B949E"/>
                </a:solidFill>
                <a:latin typeface="Calibri" pitchFamily="34" charset="0"/>
                <a:ea typeface="Calibri" pitchFamily="34" charset="-122"/>
                <a:cs typeface="Calibri" pitchFamily="34" charset="-120"/>
              </a:rPr>
              <a:t>No install. No account on anyone's server. A full Linux computer opens in your browser via GitHub Codespaces. Takes ~2 minutes.</a:t>
            </a:r>
            <a:endParaRPr lang="en-US" sz="1700" dirty="0"/>
          </a:p>
        </p:txBody>
      </p:sp>
      <p:sp>
        <p:nvSpPr>
          <p:cNvPr id="4" name="Shape 2"/>
          <p:cNvSpPr/>
          <p:nvPr/>
        </p:nvSpPr>
        <p:spPr>
          <a:xfrm>
            <a:off x="658368" y="2194560"/>
            <a:ext cx="2670048" cy="2834640"/>
          </a:xfrm>
          <a:prstGeom prst="roundRect">
            <a:avLst>
              <a:gd name="adj" fmla="val 2740"/>
            </a:avLst>
          </a:prstGeom>
          <a:solidFill>
            <a:srgbClr val="161B22"/>
          </a:solidFill>
          <a:ln w="12700">
            <a:solidFill>
              <a:srgbClr val="30363D"/>
            </a:solidFill>
            <a:prstDash val="solid"/>
          </a:ln>
        </p:spPr>
      </p:sp>
      <p:sp>
        <p:nvSpPr>
          <p:cNvPr id="5" name="Shape 3"/>
          <p:cNvSpPr/>
          <p:nvPr/>
        </p:nvSpPr>
        <p:spPr>
          <a:xfrm>
            <a:off x="914400" y="2468880"/>
            <a:ext cx="566928" cy="566928"/>
          </a:xfrm>
          <a:prstGeom prst="ellipse">
            <a:avLst/>
          </a:prstGeom>
          <a:solidFill>
            <a:srgbClr val="3FB950"/>
          </a:solidFill>
          <a:ln/>
        </p:spPr>
      </p:sp>
      <p:sp>
        <p:nvSpPr>
          <p:cNvPr id="6" name="Text 4"/>
          <p:cNvSpPr/>
          <p:nvPr/>
        </p:nvSpPr>
        <p:spPr>
          <a:xfrm>
            <a:off x="914400" y="2468880"/>
            <a:ext cx="566928" cy="566928"/>
          </a:xfrm>
          <a:prstGeom prst="rect">
            <a:avLst/>
          </a:prstGeom>
          <a:noFill/>
          <a:ln/>
        </p:spPr>
        <p:txBody>
          <a:bodyPr wrap="square" lIns="0" tIns="0" rIns="0" bIns="0" rtlCol="0" anchor="ctr"/>
          <a:lstStyle/>
          <a:p>
            <a:pPr algn="ctr" indent="0" marL="0">
              <a:buNone/>
            </a:pPr>
            <a:r>
              <a:rPr lang="en-US" sz="2400" b="1" dirty="0">
                <a:solidFill>
                  <a:srgbClr val="0D1117"/>
                </a:solidFill>
                <a:latin typeface="Arial" pitchFamily="34" charset="0"/>
                <a:ea typeface="Arial" pitchFamily="34" charset="-122"/>
                <a:cs typeface="Arial" pitchFamily="34" charset="-120"/>
              </a:rPr>
              <a:t>1</a:t>
            </a:r>
            <a:endParaRPr lang="en-US" sz="2400" dirty="0"/>
          </a:p>
        </p:txBody>
      </p:sp>
      <p:sp>
        <p:nvSpPr>
          <p:cNvPr id="7" name="Text 5"/>
          <p:cNvSpPr/>
          <p:nvPr/>
        </p:nvSpPr>
        <p:spPr>
          <a:xfrm>
            <a:off x="914400" y="3246120"/>
            <a:ext cx="2157984" cy="548640"/>
          </a:xfrm>
          <a:prstGeom prst="rect">
            <a:avLst/>
          </a:prstGeom>
          <a:noFill/>
          <a:ln/>
        </p:spPr>
        <p:txBody>
          <a:bodyPr wrap="square" lIns="0" tIns="0" rIns="0" bIns="0" rtlCol="0" anchor="ctr"/>
          <a:lstStyle/>
          <a:p>
            <a:pPr indent="0" marL="0">
              <a:buNone/>
            </a:pPr>
            <a:r>
              <a:rPr lang="en-US" sz="1700" b="1" dirty="0">
                <a:solidFill>
                  <a:srgbClr val="E6EDF3"/>
                </a:solidFill>
                <a:latin typeface="Arial" pitchFamily="34" charset="0"/>
                <a:ea typeface="Arial" pitchFamily="34" charset="-122"/>
                <a:cs typeface="Arial" pitchFamily="34" charset="-120"/>
              </a:rPr>
              <a:t>Open the repo</a:t>
            </a:r>
            <a:endParaRPr lang="en-US" sz="1700" dirty="0"/>
          </a:p>
        </p:txBody>
      </p:sp>
      <p:sp>
        <p:nvSpPr>
          <p:cNvPr id="8" name="Text 6"/>
          <p:cNvSpPr/>
          <p:nvPr/>
        </p:nvSpPr>
        <p:spPr>
          <a:xfrm>
            <a:off x="914400" y="3749040"/>
            <a:ext cx="2157984" cy="1097280"/>
          </a:xfrm>
          <a:prstGeom prst="rect">
            <a:avLst/>
          </a:prstGeom>
          <a:noFill/>
          <a:ln/>
        </p:spPr>
        <p:txBody>
          <a:bodyPr wrap="square" lIns="0" tIns="0" rIns="0" bIns="0" rtlCol="0" anchor="t"/>
          <a:lstStyle/>
          <a:p>
            <a:pPr indent="0" marL="0">
              <a:buNone/>
            </a:pPr>
            <a:r>
              <a:rPr lang="en-US" sz="1400" dirty="0">
                <a:solidFill>
                  <a:srgbClr val="8B949E"/>
                </a:solidFill>
                <a:latin typeface="Calibri" pitchFamily="34" charset="0"/>
                <a:ea typeface="Calibri" pitchFamily="34" charset="-122"/>
                <a:cs typeface="Calibri" pitchFamily="34" charset="-120"/>
              </a:rPr>
              <a:t>Go to the workshop repository on GitHub.</a:t>
            </a:r>
            <a:endParaRPr lang="en-US" sz="1400" dirty="0"/>
          </a:p>
        </p:txBody>
      </p:sp>
      <p:sp>
        <p:nvSpPr>
          <p:cNvPr id="9" name="Shape 7"/>
          <p:cNvSpPr/>
          <p:nvPr/>
        </p:nvSpPr>
        <p:spPr>
          <a:xfrm>
            <a:off x="3474720" y="2194560"/>
            <a:ext cx="2670048" cy="2834640"/>
          </a:xfrm>
          <a:prstGeom prst="roundRect">
            <a:avLst>
              <a:gd name="adj" fmla="val 2740"/>
            </a:avLst>
          </a:prstGeom>
          <a:solidFill>
            <a:srgbClr val="161B22"/>
          </a:solidFill>
          <a:ln w="12700">
            <a:solidFill>
              <a:srgbClr val="30363D"/>
            </a:solidFill>
            <a:prstDash val="solid"/>
          </a:ln>
        </p:spPr>
      </p:sp>
      <p:sp>
        <p:nvSpPr>
          <p:cNvPr id="10" name="Shape 8"/>
          <p:cNvSpPr/>
          <p:nvPr/>
        </p:nvSpPr>
        <p:spPr>
          <a:xfrm>
            <a:off x="3730752" y="2468880"/>
            <a:ext cx="566928" cy="566928"/>
          </a:xfrm>
          <a:prstGeom prst="ellipse">
            <a:avLst/>
          </a:prstGeom>
          <a:solidFill>
            <a:srgbClr val="3FB950"/>
          </a:solidFill>
          <a:ln/>
        </p:spPr>
      </p:sp>
      <p:sp>
        <p:nvSpPr>
          <p:cNvPr id="11" name="Text 9"/>
          <p:cNvSpPr/>
          <p:nvPr/>
        </p:nvSpPr>
        <p:spPr>
          <a:xfrm>
            <a:off x="3730752" y="2468880"/>
            <a:ext cx="566928" cy="566928"/>
          </a:xfrm>
          <a:prstGeom prst="rect">
            <a:avLst/>
          </a:prstGeom>
          <a:noFill/>
          <a:ln/>
        </p:spPr>
        <p:txBody>
          <a:bodyPr wrap="square" lIns="0" tIns="0" rIns="0" bIns="0" rtlCol="0" anchor="ctr"/>
          <a:lstStyle/>
          <a:p>
            <a:pPr algn="ctr" indent="0" marL="0">
              <a:buNone/>
            </a:pPr>
            <a:r>
              <a:rPr lang="en-US" sz="2400" b="1" dirty="0">
                <a:solidFill>
                  <a:srgbClr val="0D1117"/>
                </a:solidFill>
                <a:latin typeface="Arial" pitchFamily="34" charset="0"/>
                <a:ea typeface="Arial" pitchFamily="34" charset="-122"/>
                <a:cs typeface="Arial" pitchFamily="34" charset="-120"/>
              </a:rPr>
              <a:t>2</a:t>
            </a:r>
            <a:endParaRPr lang="en-US" sz="2400" dirty="0"/>
          </a:p>
        </p:txBody>
      </p:sp>
      <p:sp>
        <p:nvSpPr>
          <p:cNvPr id="12" name="Text 10"/>
          <p:cNvSpPr/>
          <p:nvPr/>
        </p:nvSpPr>
        <p:spPr>
          <a:xfrm>
            <a:off x="3730752" y="3246120"/>
            <a:ext cx="2157984" cy="548640"/>
          </a:xfrm>
          <a:prstGeom prst="rect">
            <a:avLst/>
          </a:prstGeom>
          <a:noFill/>
          <a:ln/>
        </p:spPr>
        <p:txBody>
          <a:bodyPr wrap="square" lIns="0" tIns="0" rIns="0" bIns="0" rtlCol="0" anchor="ctr"/>
          <a:lstStyle/>
          <a:p>
            <a:pPr indent="0" marL="0">
              <a:buNone/>
            </a:pPr>
            <a:r>
              <a:rPr lang="en-US" sz="1700" b="1" dirty="0">
                <a:solidFill>
                  <a:srgbClr val="E6EDF3"/>
                </a:solidFill>
                <a:latin typeface="Arial" pitchFamily="34" charset="0"/>
                <a:ea typeface="Arial" pitchFamily="34" charset="-122"/>
                <a:cs typeface="Arial" pitchFamily="34" charset="-120"/>
              </a:rPr>
              <a:t>Click  &lt; &gt; Code</a:t>
            </a:r>
            <a:endParaRPr lang="en-US" sz="1700" dirty="0"/>
          </a:p>
        </p:txBody>
      </p:sp>
      <p:sp>
        <p:nvSpPr>
          <p:cNvPr id="13" name="Text 11"/>
          <p:cNvSpPr/>
          <p:nvPr/>
        </p:nvSpPr>
        <p:spPr>
          <a:xfrm>
            <a:off x="3730752" y="3749040"/>
            <a:ext cx="2157984" cy="1097280"/>
          </a:xfrm>
          <a:prstGeom prst="rect">
            <a:avLst/>
          </a:prstGeom>
          <a:noFill/>
          <a:ln/>
        </p:spPr>
        <p:txBody>
          <a:bodyPr wrap="square" lIns="0" tIns="0" rIns="0" bIns="0" rtlCol="0" anchor="t"/>
          <a:lstStyle/>
          <a:p>
            <a:pPr indent="0" marL="0">
              <a:buNone/>
            </a:pPr>
            <a:r>
              <a:rPr lang="en-US" sz="1400" dirty="0">
                <a:solidFill>
                  <a:srgbClr val="8B949E"/>
                </a:solidFill>
                <a:latin typeface="Calibri" pitchFamily="34" charset="0"/>
                <a:ea typeface="Calibri" pitchFamily="34" charset="-122"/>
                <a:cs typeface="Calibri" pitchFamily="34" charset="-120"/>
              </a:rPr>
              <a:t>The green button, top-right of the file list.</a:t>
            </a:r>
            <a:endParaRPr lang="en-US" sz="1400" dirty="0"/>
          </a:p>
        </p:txBody>
      </p:sp>
      <p:sp>
        <p:nvSpPr>
          <p:cNvPr id="14" name="Shape 12"/>
          <p:cNvSpPr/>
          <p:nvPr/>
        </p:nvSpPr>
        <p:spPr>
          <a:xfrm>
            <a:off x="6291072" y="2194560"/>
            <a:ext cx="2670048" cy="2834640"/>
          </a:xfrm>
          <a:prstGeom prst="roundRect">
            <a:avLst>
              <a:gd name="adj" fmla="val 2740"/>
            </a:avLst>
          </a:prstGeom>
          <a:solidFill>
            <a:srgbClr val="161B22"/>
          </a:solidFill>
          <a:ln w="12700">
            <a:solidFill>
              <a:srgbClr val="30363D"/>
            </a:solidFill>
            <a:prstDash val="solid"/>
          </a:ln>
        </p:spPr>
      </p:sp>
      <p:sp>
        <p:nvSpPr>
          <p:cNvPr id="15" name="Shape 13"/>
          <p:cNvSpPr/>
          <p:nvPr/>
        </p:nvSpPr>
        <p:spPr>
          <a:xfrm>
            <a:off x="6547104" y="2468880"/>
            <a:ext cx="566928" cy="566928"/>
          </a:xfrm>
          <a:prstGeom prst="ellipse">
            <a:avLst/>
          </a:prstGeom>
          <a:solidFill>
            <a:srgbClr val="3FB950"/>
          </a:solidFill>
          <a:ln/>
        </p:spPr>
      </p:sp>
      <p:sp>
        <p:nvSpPr>
          <p:cNvPr id="16" name="Text 14"/>
          <p:cNvSpPr/>
          <p:nvPr/>
        </p:nvSpPr>
        <p:spPr>
          <a:xfrm>
            <a:off x="6547104" y="2468880"/>
            <a:ext cx="566928" cy="566928"/>
          </a:xfrm>
          <a:prstGeom prst="rect">
            <a:avLst/>
          </a:prstGeom>
          <a:noFill/>
          <a:ln/>
        </p:spPr>
        <p:txBody>
          <a:bodyPr wrap="square" lIns="0" tIns="0" rIns="0" bIns="0" rtlCol="0" anchor="ctr"/>
          <a:lstStyle/>
          <a:p>
            <a:pPr algn="ctr" indent="0" marL="0">
              <a:buNone/>
            </a:pPr>
            <a:r>
              <a:rPr lang="en-US" sz="2400" b="1" dirty="0">
                <a:solidFill>
                  <a:srgbClr val="0D1117"/>
                </a:solidFill>
                <a:latin typeface="Arial" pitchFamily="34" charset="0"/>
                <a:ea typeface="Arial" pitchFamily="34" charset="-122"/>
                <a:cs typeface="Arial" pitchFamily="34" charset="-120"/>
              </a:rPr>
              <a:t>3</a:t>
            </a:r>
            <a:endParaRPr lang="en-US" sz="2400" dirty="0"/>
          </a:p>
        </p:txBody>
      </p:sp>
      <p:sp>
        <p:nvSpPr>
          <p:cNvPr id="17" name="Text 15"/>
          <p:cNvSpPr/>
          <p:nvPr/>
        </p:nvSpPr>
        <p:spPr>
          <a:xfrm>
            <a:off x="6547104" y="3246120"/>
            <a:ext cx="2157984" cy="548640"/>
          </a:xfrm>
          <a:prstGeom prst="rect">
            <a:avLst/>
          </a:prstGeom>
          <a:noFill/>
          <a:ln/>
        </p:spPr>
        <p:txBody>
          <a:bodyPr wrap="square" lIns="0" tIns="0" rIns="0" bIns="0" rtlCol="0" anchor="ctr"/>
          <a:lstStyle/>
          <a:p>
            <a:pPr indent="0" marL="0">
              <a:buNone/>
            </a:pPr>
            <a:r>
              <a:rPr lang="en-US" sz="1700" b="1" dirty="0">
                <a:solidFill>
                  <a:srgbClr val="E6EDF3"/>
                </a:solidFill>
                <a:latin typeface="Arial" pitchFamily="34" charset="0"/>
                <a:ea typeface="Arial" pitchFamily="34" charset="-122"/>
                <a:cs typeface="Arial" pitchFamily="34" charset="-120"/>
              </a:rPr>
              <a:t>Codespaces → Create</a:t>
            </a:r>
            <a:endParaRPr lang="en-US" sz="1700" dirty="0"/>
          </a:p>
        </p:txBody>
      </p:sp>
      <p:sp>
        <p:nvSpPr>
          <p:cNvPr id="18" name="Text 16"/>
          <p:cNvSpPr/>
          <p:nvPr/>
        </p:nvSpPr>
        <p:spPr>
          <a:xfrm>
            <a:off x="6547104" y="3749040"/>
            <a:ext cx="2157984" cy="1097280"/>
          </a:xfrm>
          <a:prstGeom prst="rect">
            <a:avLst/>
          </a:prstGeom>
          <a:noFill/>
          <a:ln/>
        </p:spPr>
        <p:txBody>
          <a:bodyPr wrap="square" lIns="0" tIns="0" rIns="0" bIns="0" rtlCol="0" anchor="t"/>
          <a:lstStyle/>
          <a:p>
            <a:pPr indent="0" marL="0">
              <a:buNone/>
            </a:pPr>
            <a:r>
              <a:rPr lang="en-US" sz="1400" dirty="0">
                <a:solidFill>
                  <a:srgbClr val="8B949E"/>
                </a:solidFill>
                <a:latin typeface="Calibri" pitchFamily="34" charset="0"/>
                <a:ea typeface="Calibri" pitchFamily="34" charset="-122"/>
                <a:cs typeface="Calibri" pitchFamily="34" charset="-120"/>
              </a:rPr>
              <a:t>Pick the Codespaces tab, then "Create codespace".</a:t>
            </a:r>
            <a:endParaRPr lang="en-US" sz="1400" dirty="0"/>
          </a:p>
        </p:txBody>
      </p:sp>
      <p:sp>
        <p:nvSpPr>
          <p:cNvPr id="19" name="Shape 17"/>
          <p:cNvSpPr/>
          <p:nvPr/>
        </p:nvSpPr>
        <p:spPr>
          <a:xfrm>
            <a:off x="9107424" y="2194560"/>
            <a:ext cx="2670048" cy="2834640"/>
          </a:xfrm>
          <a:prstGeom prst="roundRect">
            <a:avLst>
              <a:gd name="adj" fmla="val 2740"/>
            </a:avLst>
          </a:prstGeom>
          <a:solidFill>
            <a:srgbClr val="161B22"/>
          </a:solidFill>
          <a:ln w="12700">
            <a:solidFill>
              <a:srgbClr val="30363D"/>
            </a:solidFill>
            <a:prstDash val="solid"/>
          </a:ln>
        </p:spPr>
      </p:sp>
      <p:sp>
        <p:nvSpPr>
          <p:cNvPr id="20" name="Shape 18"/>
          <p:cNvSpPr/>
          <p:nvPr/>
        </p:nvSpPr>
        <p:spPr>
          <a:xfrm>
            <a:off x="9363456" y="2468880"/>
            <a:ext cx="566928" cy="566928"/>
          </a:xfrm>
          <a:prstGeom prst="ellipse">
            <a:avLst/>
          </a:prstGeom>
          <a:solidFill>
            <a:srgbClr val="3FB950"/>
          </a:solidFill>
          <a:ln/>
        </p:spPr>
      </p:sp>
      <p:sp>
        <p:nvSpPr>
          <p:cNvPr id="21" name="Text 19"/>
          <p:cNvSpPr/>
          <p:nvPr/>
        </p:nvSpPr>
        <p:spPr>
          <a:xfrm>
            <a:off x="9363456" y="2468880"/>
            <a:ext cx="566928" cy="566928"/>
          </a:xfrm>
          <a:prstGeom prst="rect">
            <a:avLst/>
          </a:prstGeom>
          <a:noFill/>
          <a:ln/>
        </p:spPr>
        <p:txBody>
          <a:bodyPr wrap="square" lIns="0" tIns="0" rIns="0" bIns="0" rtlCol="0" anchor="ctr"/>
          <a:lstStyle/>
          <a:p>
            <a:pPr algn="ctr" indent="0" marL="0">
              <a:buNone/>
            </a:pPr>
            <a:r>
              <a:rPr lang="en-US" sz="2400" b="1" dirty="0">
                <a:solidFill>
                  <a:srgbClr val="0D1117"/>
                </a:solidFill>
                <a:latin typeface="Arial" pitchFamily="34" charset="0"/>
                <a:ea typeface="Arial" pitchFamily="34" charset="-122"/>
                <a:cs typeface="Arial" pitchFamily="34" charset="-120"/>
              </a:rPr>
              <a:t>4</a:t>
            </a:r>
            <a:endParaRPr lang="en-US" sz="2400" dirty="0"/>
          </a:p>
        </p:txBody>
      </p:sp>
      <p:sp>
        <p:nvSpPr>
          <p:cNvPr id="22" name="Text 20"/>
          <p:cNvSpPr/>
          <p:nvPr/>
        </p:nvSpPr>
        <p:spPr>
          <a:xfrm>
            <a:off x="9363456" y="3246120"/>
            <a:ext cx="2157984" cy="548640"/>
          </a:xfrm>
          <a:prstGeom prst="rect">
            <a:avLst/>
          </a:prstGeom>
          <a:noFill/>
          <a:ln/>
        </p:spPr>
        <p:txBody>
          <a:bodyPr wrap="square" lIns="0" tIns="0" rIns="0" bIns="0" rtlCol="0" anchor="ctr"/>
          <a:lstStyle/>
          <a:p>
            <a:pPr indent="0" marL="0">
              <a:buNone/>
            </a:pPr>
            <a:r>
              <a:rPr lang="en-US" sz="1700" b="1" dirty="0">
                <a:solidFill>
                  <a:srgbClr val="E6EDF3"/>
                </a:solidFill>
                <a:latin typeface="Arial" pitchFamily="34" charset="0"/>
                <a:ea typeface="Arial" pitchFamily="34" charset="-122"/>
                <a:cs typeface="Arial" pitchFamily="34" charset="-120"/>
              </a:rPr>
              <a:t>Terminal appears</a:t>
            </a:r>
            <a:endParaRPr lang="en-US" sz="1700" dirty="0"/>
          </a:p>
        </p:txBody>
      </p:sp>
      <p:sp>
        <p:nvSpPr>
          <p:cNvPr id="23" name="Text 21"/>
          <p:cNvSpPr/>
          <p:nvPr/>
        </p:nvSpPr>
        <p:spPr>
          <a:xfrm>
            <a:off x="9363456" y="3749040"/>
            <a:ext cx="2157984" cy="1097280"/>
          </a:xfrm>
          <a:prstGeom prst="rect">
            <a:avLst/>
          </a:prstGeom>
          <a:noFill/>
          <a:ln/>
        </p:spPr>
        <p:txBody>
          <a:bodyPr wrap="square" lIns="0" tIns="0" rIns="0" bIns="0" rtlCol="0" anchor="t"/>
          <a:lstStyle/>
          <a:p>
            <a:pPr indent="0" marL="0">
              <a:buNone/>
            </a:pPr>
            <a:r>
              <a:rPr lang="en-US" sz="1400" dirty="0">
                <a:solidFill>
                  <a:srgbClr val="8B949E"/>
                </a:solidFill>
                <a:latin typeface="Calibri" pitchFamily="34" charset="0"/>
                <a:ea typeface="Calibri" pitchFamily="34" charset="-122"/>
                <a:cs typeface="Calibri" pitchFamily="34" charset="-120"/>
              </a:rPr>
              <a:t>An editor opens with a terminal at the bottom. You're in.</a:t>
            </a:r>
            <a:endParaRPr lang="en-US" sz="1400" dirty="0"/>
          </a:p>
        </p:txBody>
      </p:sp>
      <p:sp>
        <p:nvSpPr>
          <p:cNvPr id="24" name="Text 22"/>
          <p:cNvSpPr/>
          <p:nvPr/>
        </p:nvSpPr>
        <p:spPr>
          <a:xfrm>
            <a:off x="658368" y="5440680"/>
            <a:ext cx="10972800" cy="548640"/>
          </a:xfrm>
          <a:prstGeom prst="rect">
            <a:avLst/>
          </a:prstGeom>
          <a:noFill/>
          <a:ln/>
        </p:spPr>
        <p:txBody>
          <a:bodyPr wrap="square" lIns="0" tIns="0" rIns="0" bIns="0" rtlCol="0" anchor="ctr"/>
          <a:lstStyle/>
          <a:p>
            <a:pPr indent="0" marL="0">
              <a:buNone/>
            </a:pPr>
            <a:r>
              <a:rPr lang="en-US" sz="1300" b="1" dirty="0">
                <a:solidFill>
                  <a:srgbClr val="E6EDF3"/>
                </a:solidFill>
                <a:latin typeface="Calibri" pitchFamily="34" charset="0"/>
                <a:ea typeface="Calibri" pitchFamily="34" charset="-122"/>
                <a:cs typeface="Calibri" pitchFamily="34" charset="-120"/>
              </a:rPr>
              <a:t>Terminal panel missing?  </a:t>
            </a:r>
            <a:pPr indent="0" marL="0">
              <a:buNone/>
            </a:pPr>
            <a:r>
              <a:rPr lang="en-US" sz="1300" dirty="0">
                <a:solidFill>
                  <a:srgbClr val="8B949E"/>
                </a:solidFill>
                <a:latin typeface="Calibri" pitchFamily="34" charset="0"/>
                <a:ea typeface="Calibri" pitchFamily="34" charset="-122"/>
                <a:cs typeface="Calibri" pitchFamily="34" charset="-120"/>
              </a:rPr>
              <a:t>Top menu → Terminal → New Terminal.  </a:t>
            </a:r>
            <a:pPr indent="0" marL="0">
              <a:buNone/>
            </a:pPr>
            <a:r>
              <a:rPr lang="en-US" sz="1300" b="1" dirty="0">
                <a:solidFill>
                  <a:srgbClr val="E6EDF3"/>
                </a:solidFill>
                <a:latin typeface="Calibri" pitchFamily="34" charset="0"/>
                <a:ea typeface="Calibri" pitchFamily="34" charset="-122"/>
                <a:cs typeface="Calibri" pitchFamily="34" charset="-120"/>
              </a:rPr>
              <a:t>No GitHub? </a:t>
            </a:r>
            <a:pPr indent="0" marL="0">
              <a:buNone/>
            </a:pPr>
            <a:r>
              <a:rPr lang="en-US" sz="1300" dirty="0">
                <a:solidFill>
                  <a:srgbClr val="8B949E"/>
                </a:solidFill>
                <a:latin typeface="Calibri" pitchFamily="34" charset="0"/>
                <a:ea typeface="Calibri" pitchFamily="34" charset="-122"/>
                <a:cs typeface="Calibri" pitchFamily="34" charset="-120"/>
              </a:rPr>
              <a:t>Use your Mac/Linux terminal or WSL — see the README.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502920"/>
            <a:ext cx="8229600" cy="640080"/>
          </a:xfrm>
          <a:prstGeom prst="rect">
            <a:avLst/>
          </a:prstGeom>
          <a:noFill/>
          <a:ln/>
        </p:spPr>
        <p:txBody>
          <a:bodyPr wrap="square" lIns="0" tIns="0" rIns="0" bIns="0" rtlCol="0" anchor="ctr"/>
          <a:lstStyle/>
          <a:p>
            <a:pPr indent="0" marL="0">
              <a:buNone/>
            </a:pPr>
            <a:r>
              <a:rPr lang="en-US" sz="3600" b="1" dirty="0">
                <a:solidFill>
                  <a:srgbClr val="E6EDF3"/>
                </a:solidFill>
                <a:latin typeface="Arial" pitchFamily="34" charset="0"/>
                <a:ea typeface="Arial" pitchFamily="34" charset="-122"/>
                <a:cs typeface="Arial" pitchFamily="34" charset="-120"/>
              </a:rPr>
              <a:t>The build, in 6 moves</a:t>
            </a:r>
            <a:endParaRPr lang="en-US" sz="3600" dirty="0"/>
          </a:p>
        </p:txBody>
      </p:sp>
      <p:sp>
        <p:nvSpPr>
          <p:cNvPr id="3" name="Text 1"/>
          <p:cNvSpPr/>
          <p:nvPr/>
        </p:nvSpPr>
        <p:spPr>
          <a:xfrm>
            <a:off x="658368" y="1234440"/>
            <a:ext cx="10058400" cy="457200"/>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Each step teaches new commands by using them to grow the same tool.</a:t>
            </a:r>
            <a:endParaRPr lang="en-US" sz="1600" dirty="0"/>
          </a:p>
        </p:txBody>
      </p:sp>
      <p:sp>
        <p:nvSpPr>
          <p:cNvPr id="4" name="Shape 2"/>
          <p:cNvSpPr/>
          <p:nvPr/>
        </p:nvSpPr>
        <p:spPr>
          <a:xfrm>
            <a:off x="658368" y="1874520"/>
            <a:ext cx="5532120" cy="1325880"/>
          </a:xfrm>
          <a:prstGeom prst="roundRect">
            <a:avLst>
              <a:gd name="adj" fmla="val 4828"/>
            </a:avLst>
          </a:prstGeom>
          <a:solidFill>
            <a:srgbClr val="161B22"/>
          </a:solidFill>
          <a:ln w="12700">
            <a:solidFill>
              <a:srgbClr val="30363D"/>
            </a:solidFill>
            <a:prstDash val="solid"/>
          </a:ln>
        </p:spPr>
      </p:sp>
      <p:sp>
        <p:nvSpPr>
          <p:cNvPr id="5" name="Shape 3"/>
          <p:cNvSpPr/>
          <p:nvPr/>
        </p:nvSpPr>
        <p:spPr>
          <a:xfrm>
            <a:off x="886968" y="2130552"/>
            <a:ext cx="822960" cy="822960"/>
          </a:xfrm>
          <a:prstGeom prst="roundRect">
            <a:avLst>
              <a:gd name="adj" fmla="val 6667"/>
            </a:avLst>
          </a:prstGeom>
          <a:solidFill>
            <a:srgbClr val="0D1117"/>
          </a:solidFill>
          <a:ln w="19050">
            <a:solidFill>
              <a:srgbClr val="3FB950"/>
            </a:solidFill>
            <a:prstDash val="solid"/>
          </a:ln>
        </p:spPr>
      </p:sp>
      <p:sp>
        <p:nvSpPr>
          <p:cNvPr id="6" name="Text 4"/>
          <p:cNvSpPr/>
          <p:nvPr/>
        </p:nvSpPr>
        <p:spPr>
          <a:xfrm>
            <a:off x="886968" y="2130552"/>
            <a:ext cx="822960" cy="822960"/>
          </a:xfrm>
          <a:prstGeom prst="rect">
            <a:avLst/>
          </a:prstGeom>
          <a:noFill/>
          <a:ln/>
        </p:spPr>
        <p:txBody>
          <a:bodyPr wrap="square" lIns="0" tIns="0" rIns="0" bIns="0" rtlCol="0" anchor="ctr"/>
          <a:lstStyle/>
          <a:p>
            <a:pPr algn="ctr" indent="0" marL="0">
              <a:buNone/>
            </a:pPr>
            <a:r>
              <a:rPr lang="en-US" sz="3000" b="1" dirty="0">
                <a:solidFill>
                  <a:srgbClr val="3FB950"/>
                </a:solidFill>
                <a:latin typeface="Arial" pitchFamily="34" charset="0"/>
                <a:ea typeface="Arial" pitchFamily="34" charset="-122"/>
                <a:cs typeface="Arial" pitchFamily="34" charset="-120"/>
              </a:rPr>
              <a:t>1</a:t>
            </a:r>
            <a:endParaRPr lang="en-US" sz="3000" dirty="0"/>
          </a:p>
        </p:txBody>
      </p:sp>
      <p:sp>
        <p:nvSpPr>
          <p:cNvPr id="7" name="Text 5"/>
          <p:cNvSpPr/>
          <p:nvPr/>
        </p:nvSpPr>
        <p:spPr>
          <a:xfrm>
            <a:off x="1892808" y="2093976"/>
            <a:ext cx="4069080" cy="411480"/>
          </a:xfrm>
          <a:prstGeom prst="rect">
            <a:avLst/>
          </a:prstGeom>
          <a:noFill/>
          <a:ln/>
        </p:spPr>
        <p:txBody>
          <a:bodyPr wrap="square" lIns="0" tIns="0" rIns="0" bIns="0" rtlCol="0" anchor="ctr"/>
          <a:lstStyle/>
          <a:p>
            <a:pPr indent="0" marL="0">
              <a:buNone/>
            </a:pPr>
            <a:r>
              <a:rPr lang="en-US" sz="1900" b="1" dirty="0">
                <a:solidFill>
                  <a:srgbClr val="E6EDF3"/>
                </a:solidFill>
                <a:latin typeface="Arial" pitchFamily="34" charset="0"/>
                <a:ea typeface="Arial" pitchFamily="34" charset="-122"/>
                <a:cs typeface="Arial" pitchFamily="34" charset="-120"/>
              </a:rPr>
              <a:t>Navigate</a:t>
            </a:r>
            <a:endParaRPr lang="en-US" sz="1900" dirty="0"/>
          </a:p>
        </p:txBody>
      </p:sp>
      <p:sp>
        <p:nvSpPr>
          <p:cNvPr id="8" name="Text 6"/>
          <p:cNvSpPr/>
          <p:nvPr/>
        </p:nvSpPr>
        <p:spPr>
          <a:xfrm>
            <a:off x="1892808" y="2478024"/>
            <a:ext cx="4069080" cy="320040"/>
          </a:xfrm>
          <a:prstGeom prst="rect">
            <a:avLst/>
          </a:prstGeom>
          <a:noFill/>
          <a:ln/>
        </p:spPr>
        <p:txBody>
          <a:bodyPr wrap="square" lIns="0" tIns="0" rIns="0" bIns="0" rtlCol="0" anchor="ctr"/>
          <a:lstStyle/>
          <a:p>
            <a:pPr indent="0" marL="0">
              <a:buNone/>
            </a:pPr>
            <a:r>
              <a:rPr lang="en-US" sz="1400" dirty="0">
                <a:solidFill>
                  <a:srgbClr val="3FB950"/>
                </a:solidFill>
                <a:latin typeface="Courier New" pitchFamily="34" charset="0"/>
                <a:ea typeface="Courier New" pitchFamily="34" charset="-122"/>
                <a:cs typeface="Courier New" pitchFamily="34" charset="-120"/>
              </a:rPr>
              <a:t>pwd  ls  cd</a:t>
            </a:r>
            <a:endParaRPr lang="en-US" sz="1400" dirty="0"/>
          </a:p>
        </p:txBody>
      </p:sp>
      <p:sp>
        <p:nvSpPr>
          <p:cNvPr id="9" name="Text 7"/>
          <p:cNvSpPr/>
          <p:nvPr/>
        </p:nvSpPr>
        <p:spPr>
          <a:xfrm>
            <a:off x="1892808" y="2779776"/>
            <a:ext cx="4069080" cy="320040"/>
          </a:xfrm>
          <a:prstGeom prst="rect">
            <a:avLst/>
          </a:prstGeom>
          <a:noFill/>
          <a:ln/>
        </p:spPr>
        <p:txBody>
          <a:bodyPr wrap="square" lIns="0" tIns="0" rIns="0" bIns="0" rtlCol="0" anchor="ctr"/>
          <a:lstStyle/>
          <a:p>
            <a:pPr indent="0" marL="0">
              <a:buNone/>
            </a:pPr>
            <a:r>
              <a:rPr lang="en-US" sz="1300" i="1" dirty="0">
                <a:solidFill>
                  <a:srgbClr val="8B949E"/>
                </a:solidFill>
                <a:latin typeface="Calibri" pitchFamily="34" charset="0"/>
                <a:ea typeface="Calibri" pitchFamily="34" charset="-122"/>
                <a:cs typeface="Calibri" pitchFamily="34" charset="-120"/>
              </a:rPr>
              <a:t>find your way around</a:t>
            </a:r>
            <a:endParaRPr lang="en-US" sz="1300" dirty="0"/>
          </a:p>
        </p:txBody>
      </p:sp>
      <p:sp>
        <p:nvSpPr>
          <p:cNvPr id="10" name="Shape 8"/>
          <p:cNvSpPr/>
          <p:nvPr/>
        </p:nvSpPr>
        <p:spPr>
          <a:xfrm>
            <a:off x="6373368" y="1874520"/>
            <a:ext cx="5532120" cy="1325880"/>
          </a:xfrm>
          <a:prstGeom prst="roundRect">
            <a:avLst>
              <a:gd name="adj" fmla="val 4828"/>
            </a:avLst>
          </a:prstGeom>
          <a:solidFill>
            <a:srgbClr val="161B22"/>
          </a:solidFill>
          <a:ln w="12700">
            <a:solidFill>
              <a:srgbClr val="30363D"/>
            </a:solidFill>
            <a:prstDash val="solid"/>
          </a:ln>
        </p:spPr>
      </p:sp>
      <p:sp>
        <p:nvSpPr>
          <p:cNvPr id="11" name="Shape 9"/>
          <p:cNvSpPr/>
          <p:nvPr/>
        </p:nvSpPr>
        <p:spPr>
          <a:xfrm>
            <a:off x="6601968" y="2130552"/>
            <a:ext cx="822960" cy="822960"/>
          </a:xfrm>
          <a:prstGeom prst="roundRect">
            <a:avLst>
              <a:gd name="adj" fmla="val 6667"/>
            </a:avLst>
          </a:prstGeom>
          <a:solidFill>
            <a:srgbClr val="0D1117"/>
          </a:solidFill>
          <a:ln w="19050">
            <a:solidFill>
              <a:srgbClr val="3FB950"/>
            </a:solidFill>
            <a:prstDash val="solid"/>
          </a:ln>
        </p:spPr>
      </p:sp>
      <p:sp>
        <p:nvSpPr>
          <p:cNvPr id="12" name="Text 10"/>
          <p:cNvSpPr/>
          <p:nvPr/>
        </p:nvSpPr>
        <p:spPr>
          <a:xfrm>
            <a:off x="6601968" y="2130552"/>
            <a:ext cx="822960" cy="822960"/>
          </a:xfrm>
          <a:prstGeom prst="rect">
            <a:avLst/>
          </a:prstGeom>
          <a:noFill/>
          <a:ln/>
        </p:spPr>
        <p:txBody>
          <a:bodyPr wrap="square" lIns="0" tIns="0" rIns="0" bIns="0" rtlCol="0" anchor="ctr"/>
          <a:lstStyle/>
          <a:p>
            <a:pPr algn="ctr" indent="0" marL="0">
              <a:buNone/>
            </a:pPr>
            <a:r>
              <a:rPr lang="en-US" sz="3000" b="1" dirty="0">
                <a:solidFill>
                  <a:srgbClr val="3FB950"/>
                </a:solidFill>
                <a:latin typeface="Arial" pitchFamily="34" charset="0"/>
                <a:ea typeface="Arial" pitchFamily="34" charset="-122"/>
                <a:cs typeface="Arial" pitchFamily="34" charset="-120"/>
              </a:rPr>
              <a:t>2</a:t>
            </a:r>
            <a:endParaRPr lang="en-US" sz="3000" dirty="0"/>
          </a:p>
        </p:txBody>
      </p:sp>
      <p:sp>
        <p:nvSpPr>
          <p:cNvPr id="13" name="Text 11"/>
          <p:cNvSpPr/>
          <p:nvPr/>
        </p:nvSpPr>
        <p:spPr>
          <a:xfrm>
            <a:off x="7607808" y="2093976"/>
            <a:ext cx="4069080" cy="411480"/>
          </a:xfrm>
          <a:prstGeom prst="rect">
            <a:avLst/>
          </a:prstGeom>
          <a:noFill/>
          <a:ln/>
        </p:spPr>
        <p:txBody>
          <a:bodyPr wrap="square" lIns="0" tIns="0" rIns="0" bIns="0" rtlCol="0" anchor="ctr"/>
          <a:lstStyle/>
          <a:p>
            <a:pPr indent="0" marL="0">
              <a:buNone/>
            </a:pPr>
            <a:r>
              <a:rPr lang="en-US" sz="1900" b="1" dirty="0">
                <a:solidFill>
                  <a:srgbClr val="E6EDF3"/>
                </a:solidFill>
                <a:latin typeface="Arial" pitchFamily="34" charset="0"/>
                <a:ea typeface="Arial" pitchFamily="34" charset="-122"/>
                <a:cs typeface="Arial" pitchFamily="34" charset="-120"/>
              </a:rPr>
              <a:t>Scaffold</a:t>
            </a:r>
            <a:endParaRPr lang="en-US" sz="1900" dirty="0"/>
          </a:p>
        </p:txBody>
      </p:sp>
      <p:sp>
        <p:nvSpPr>
          <p:cNvPr id="14" name="Text 12"/>
          <p:cNvSpPr/>
          <p:nvPr/>
        </p:nvSpPr>
        <p:spPr>
          <a:xfrm>
            <a:off x="7607808" y="2478024"/>
            <a:ext cx="4069080" cy="320040"/>
          </a:xfrm>
          <a:prstGeom prst="rect">
            <a:avLst/>
          </a:prstGeom>
          <a:noFill/>
          <a:ln/>
        </p:spPr>
        <p:txBody>
          <a:bodyPr wrap="square" lIns="0" tIns="0" rIns="0" bIns="0" rtlCol="0" anchor="ctr"/>
          <a:lstStyle/>
          <a:p>
            <a:pPr indent="0" marL="0">
              <a:buNone/>
            </a:pPr>
            <a:r>
              <a:rPr lang="en-US" sz="1400" dirty="0">
                <a:solidFill>
                  <a:srgbClr val="3FB950"/>
                </a:solidFill>
                <a:latin typeface="Courier New" pitchFamily="34" charset="0"/>
                <a:ea typeface="Courier New" pitchFamily="34" charset="-122"/>
                <a:cs typeface="Courier New" pitchFamily="34" charset="-120"/>
              </a:rPr>
              <a:t>mkdir  touch  cp  mv</a:t>
            </a:r>
            <a:endParaRPr lang="en-US" sz="1400" dirty="0"/>
          </a:p>
        </p:txBody>
      </p:sp>
      <p:sp>
        <p:nvSpPr>
          <p:cNvPr id="15" name="Text 13"/>
          <p:cNvSpPr/>
          <p:nvPr/>
        </p:nvSpPr>
        <p:spPr>
          <a:xfrm>
            <a:off x="7607808" y="2779776"/>
            <a:ext cx="4069080" cy="320040"/>
          </a:xfrm>
          <a:prstGeom prst="rect">
            <a:avLst/>
          </a:prstGeom>
          <a:noFill/>
          <a:ln/>
        </p:spPr>
        <p:txBody>
          <a:bodyPr wrap="square" lIns="0" tIns="0" rIns="0" bIns="0" rtlCol="0" anchor="ctr"/>
          <a:lstStyle/>
          <a:p>
            <a:pPr indent="0" marL="0">
              <a:buNone/>
            </a:pPr>
            <a:r>
              <a:rPr lang="en-US" sz="1300" i="1" dirty="0">
                <a:solidFill>
                  <a:srgbClr val="8B949E"/>
                </a:solidFill>
                <a:latin typeface="Calibri" pitchFamily="34" charset="0"/>
                <a:ea typeface="Calibri" pitchFamily="34" charset="-122"/>
                <a:cs typeface="Calibri" pitchFamily="34" charset="-120"/>
              </a:rPr>
              <a:t>make the folders &amp; files</a:t>
            </a:r>
            <a:endParaRPr lang="en-US" sz="1300" dirty="0"/>
          </a:p>
        </p:txBody>
      </p:sp>
      <p:sp>
        <p:nvSpPr>
          <p:cNvPr id="16" name="Shape 14"/>
          <p:cNvSpPr/>
          <p:nvPr/>
        </p:nvSpPr>
        <p:spPr>
          <a:xfrm>
            <a:off x="658368" y="3364992"/>
            <a:ext cx="5532120" cy="1325880"/>
          </a:xfrm>
          <a:prstGeom prst="roundRect">
            <a:avLst>
              <a:gd name="adj" fmla="val 4828"/>
            </a:avLst>
          </a:prstGeom>
          <a:solidFill>
            <a:srgbClr val="161B22"/>
          </a:solidFill>
          <a:ln w="12700">
            <a:solidFill>
              <a:srgbClr val="30363D"/>
            </a:solidFill>
            <a:prstDash val="solid"/>
          </a:ln>
        </p:spPr>
      </p:sp>
      <p:sp>
        <p:nvSpPr>
          <p:cNvPr id="17" name="Shape 15"/>
          <p:cNvSpPr/>
          <p:nvPr/>
        </p:nvSpPr>
        <p:spPr>
          <a:xfrm>
            <a:off x="886968" y="3621024"/>
            <a:ext cx="822960" cy="822960"/>
          </a:xfrm>
          <a:prstGeom prst="roundRect">
            <a:avLst>
              <a:gd name="adj" fmla="val 6667"/>
            </a:avLst>
          </a:prstGeom>
          <a:solidFill>
            <a:srgbClr val="0D1117"/>
          </a:solidFill>
          <a:ln w="19050">
            <a:solidFill>
              <a:srgbClr val="3FB950"/>
            </a:solidFill>
            <a:prstDash val="solid"/>
          </a:ln>
        </p:spPr>
      </p:sp>
      <p:sp>
        <p:nvSpPr>
          <p:cNvPr id="18" name="Text 16"/>
          <p:cNvSpPr/>
          <p:nvPr/>
        </p:nvSpPr>
        <p:spPr>
          <a:xfrm>
            <a:off x="886968" y="3621024"/>
            <a:ext cx="822960" cy="822960"/>
          </a:xfrm>
          <a:prstGeom prst="rect">
            <a:avLst/>
          </a:prstGeom>
          <a:noFill/>
          <a:ln/>
        </p:spPr>
        <p:txBody>
          <a:bodyPr wrap="square" lIns="0" tIns="0" rIns="0" bIns="0" rtlCol="0" anchor="ctr"/>
          <a:lstStyle/>
          <a:p>
            <a:pPr algn="ctr" indent="0" marL="0">
              <a:buNone/>
            </a:pPr>
            <a:r>
              <a:rPr lang="en-US" sz="3000" b="1" dirty="0">
                <a:solidFill>
                  <a:srgbClr val="3FB950"/>
                </a:solidFill>
                <a:latin typeface="Arial" pitchFamily="34" charset="0"/>
                <a:ea typeface="Arial" pitchFamily="34" charset="-122"/>
                <a:cs typeface="Arial" pitchFamily="34" charset="-120"/>
              </a:rPr>
              <a:t>3</a:t>
            </a:r>
            <a:endParaRPr lang="en-US" sz="3000" dirty="0"/>
          </a:p>
        </p:txBody>
      </p:sp>
      <p:sp>
        <p:nvSpPr>
          <p:cNvPr id="19" name="Text 17"/>
          <p:cNvSpPr/>
          <p:nvPr/>
        </p:nvSpPr>
        <p:spPr>
          <a:xfrm>
            <a:off x="1892808" y="3584448"/>
            <a:ext cx="4069080" cy="411480"/>
          </a:xfrm>
          <a:prstGeom prst="rect">
            <a:avLst/>
          </a:prstGeom>
          <a:noFill/>
          <a:ln/>
        </p:spPr>
        <p:txBody>
          <a:bodyPr wrap="square" lIns="0" tIns="0" rIns="0" bIns="0" rtlCol="0" anchor="ctr"/>
          <a:lstStyle/>
          <a:p>
            <a:pPr indent="0" marL="0">
              <a:buNone/>
            </a:pPr>
            <a:r>
              <a:rPr lang="en-US" sz="1900" b="1" dirty="0">
                <a:solidFill>
                  <a:srgbClr val="E6EDF3"/>
                </a:solidFill>
                <a:latin typeface="Arial" pitchFamily="34" charset="0"/>
                <a:ea typeface="Arial" pitchFamily="34" charset="-122"/>
                <a:cs typeface="Arial" pitchFamily="34" charset="-120"/>
              </a:rPr>
              <a:t>Write</a:t>
            </a:r>
            <a:endParaRPr lang="en-US" sz="1900" dirty="0"/>
          </a:p>
        </p:txBody>
      </p:sp>
      <p:sp>
        <p:nvSpPr>
          <p:cNvPr id="20" name="Text 18"/>
          <p:cNvSpPr/>
          <p:nvPr/>
        </p:nvSpPr>
        <p:spPr>
          <a:xfrm>
            <a:off x="1892808" y="3968496"/>
            <a:ext cx="4069080" cy="320040"/>
          </a:xfrm>
          <a:prstGeom prst="rect">
            <a:avLst/>
          </a:prstGeom>
          <a:noFill/>
          <a:ln/>
        </p:spPr>
        <p:txBody>
          <a:bodyPr wrap="square" lIns="0" tIns="0" rIns="0" bIns="0" rtlCol="0" anchor="ctr"/>
          <a:lstStyle/>
          <a:p>
            <a:pPr indent="0" marL="0">
              <a:buNone/>
            </a:pPr>
            <a:r>
              <a:rPr lang="en-US" sz="1400" dirty="0">
                <a:solidFill>
                  <a:srgbClr val="3FB950"/>
                </a:solidFill>
                <a:latin typeface="Courier New" pitchFamily="34" charset="0"/>
                <a:ea typeface="Courier New" pitchFamily="34" charset="-122"/>
                <a:cs typeface="Courier New" pitchFamily="34" charset="-120"/>
              </a:rPr>
              <a:t>vim</a:t>
            </a:r>
            <a:endParaRPr lang="en-US" sz="1400" dirty="0"/>
          </a:p>
        </p:txBody>
      </p:sp>
      <p:sp>
        <p:nvSpPr>
          <p:cNvPr id="21" name="Text 19"/>
          <p:cNvSpPr/>
          <p:nvPr/>
        </p:nvSpPr>
        <p:spPr>
          <a:xfrm>
            <a:off x="1892808" y="4270248"/>
            <a:ext cx="4069080" cy="320040"/>
          </a:xfrm>
          <a:prstGeom prst="rect">
            <a:avLst/>
          </a:prstGeom>
          <a:noFill/>
          <a:ln/>
        </p:spPr>
        <p:txBody>
          <a:bodyPr wrap="square" lIns="0" tIns="0" rIns="0" bIns="0" rtlCol="0" anchor="ctr"/>
          <a:lstStyle/>
          <a:p>
            <a:pPr indent="0" marL="0">
              <a:buNone/>
            </a:pPr>
            <a:r>
              <a:rPr lang="en-US" sz="1300" i="1" dirty="0">
                <a:solidFill>
                  <a:srgbClr val="8B949E"/>
                </a:solidFill>
                <a:latin typeface="Calibri" pitchFamily="34" charset="0"/>
                <a:ea typeface="Calibri" pitchFamily="34" charset="-122"/>
                <a:cs typeface="Calibri" pitchFamily="34" charset="-120"/>
              </a:rPr>
              <a:t>type the script in</a:t>
            </a:r>
            <a:endParaRPr lang="en-US" sz="1300" dirty="0"/>
          </a:p>
        </p:txBody>
      </p:sp>
      <p:sp>
        <p:nvSpPr>
          <p:cNvPr id="22" name="Shape 20"/>
          <p:cNvSpPr/>
          <p:nvPr/>
        </p:nvSpPr>
        <p:spPr>
          <a:xfrm>
            <a:off x="6373368" y="3364992"/>
            <a:ext cx="5532120" cy="1325880"/>
          </a:xfrm>
          <a:prstGeom prst="roundRect">
            <a:avLst>
              <a:gd name="adj" fmla="val 4828"/>
            </a:avLst>
          </a:prstGeom>
          <a:solidFill>
            <a:srgbClr val="161B22"/>
          </a:solidFill>
          <a:ln w="12700">
            <a:solidFill>
              <a:srgbClr val="30363D"/>
            </a:solidFill>
            <a:prstDash val="solid"/>
          </a:ln>
        </p:spPr>
      </p:sp>
      <p:sp>
        <p:nvSpPr>
          <p:cNvPr id="23" name="Shape 21"/>
          <p:cNvSpPr/>
          <p:nvPr/>
        </p:nvSpPr>
        <p:spPr>
          <a:xfrm>
            <a:off x="6601968" y="3621024"/>
            <a:ext cx="822960" cy="822960"/>
          </a:xfrm>
          <a:prstGeom prst="roundRect">
            <a:avLst>
              <a:gd name="adj" fmla="val 6667"/>
            </a:avLst>
          </a:prstGeom>
          <a:solidFill>
            <a:srgbClr val="0D1117"/>
          </a:solidFill>
          <a:ln w="19050">
            <a:solidFill>
              <a:srgbClr val="3FB950"/>
            </a:solidFill>
            <a:prstDash val="solid"/>
          </a:ln>
        </p:spPr>
      </p:sp>
      <p:sp>
        <p:nvSpPr>
          <p:cNvPr id="24" name="Text 22"/>
          <p:cNvSpPr/>
          <p:nvPr/>
        </p:nvSpPr>
        <p:spPr>
          <a:xfrm>
            <a:off x="6601968" y="3621024"/>
            <a:ext cx="822960" cy="822960"/>
          </a:xfrm>
          <a:prstGeom prst="rect">
            <a:avLst/>
          </a:prstGeom>
          <a:noFill/>
          <a:ln/>
        </p:spPr>
        <p:txBody>
          <a:bodyPr wrap="square" lIns="0" tIns="0" rIns="0" bIns="0" rtlCol="0" anchor="ctr"/>
          <a:lstStyle/>
          <a:p>
            <a:pPr algn="ctr" indent="0" marL="0">
              <a:buNone/>
            </a:pPr>
            <a:r>
              <a:rPr lang="en-US" sz="3000" b="1" dirty="0">
                <a:solidFill>
                  <a:srgbClr val="3FB950"/>
                </a:solidFill>
                <a:latin typeface="Arial" pitchFamily="34" charset="0"/>
                <a:ea typeface="Arial" pitchFamily="34" charset="-122"/>
                <a:cs typeface="Arial" pitchFamily="34" charset="-120"/>
              </a:rPr>
              <a:t>4</a:t>
            </a:r>
            <a:endParaRPr lang="en-US" sz="3000" dirty="0"/>
          </a:p>
        </p:txBody>
      </p:sp>
      <p:sp>
        <p:nvSpPr>
          <p:cNvPr id="25" name="Text 23"/>
          <p:cNvSpPr/>
          <p:nvPr/>
        </p:nvSpPr>
        <p:spPr>
          <a:xfrm>
            <a:off x="7607808" y="3584448"/>
            <a:ext cx="4069080" cy="411480"/>
          </a:xfrm>
          <a:prstGeom prst="rect">
            <a:avLst/>
          </a:prstGeom>
          <a:noFill/>
          <a:ln/>
        </p:spPr>
        <p:txBody>
          <a:bodyPr wrap="square" lIns="0" tIns="0" rIns="0" bIns="0" rtlCol="0" anchor="ctr"/>
          <a:lstStyle/>
          <a:p>
            <a:pPr indent="0" marL="0">
              <a:buNone/>
            </a:pPr>
            <a:r>
              <a:rPr lang="en-US" sz="1900" b="1" dirty="0">
                <a:solidFill>
                  <a:srgbClr val="E6EDF3"/>
                </a:solidFill>
                <a:latin typeface="Arial" pitchFamily="34" charset="0"/>
                <a:ea typeface="Arial" pitchFamily="34" charset="-122"/>
                <a:cs typeface="Arial" pitchFamily="34" charset="-120"/>
              </a:rPr>
              <a:t>Read data</a:t>
            </a:r>
            <a:endParaRPr lang="en-US" sz="1900" dirty="0"/>
          </a:p>
        </p:txBody>
      </p:sp>
      <p:sp>
        <p:nvSpPr>
          <p:cNvPr id="26" name="Text 24"/>
          <p:cNvSpPr/>
          <p:nvPr/>
        </p:nvSpPr>
        <p:spPr>
          <a:xfrm>
            <a:off x="7607808" y="3968496"/>
            <a:ext cx="4069080" cy="320040"/>
          </a:xfrm>
          <a:prstGeom prst="rect">
            <a:avLst/>
          </a:prstGeom>
          <a:noFill/>
          <a:ln/>
        </p:spPr>
        <p:txBody>
          <a:bodyPr wrap="square" lIns="0" tIns="0" rIns="0" bIns="0" rtlCol="0" anchor="ctr"/>
          <a:lstStyle/>
          <a:p>
            <a:pPr indent="0" marL="0">
              <a:buNone/>
            </a:pPr>
            <a:r>
              <a:rPr lang="en-US" sz="1400" dirty="0">
                <a:solidFill>
                  <a:srgbClr val="3FB950"/>
                </a:solidFill>
                <a:latin typeface="Courier New" pitchFamily="34" charset="0"/>
                <a:ea typeface="Courier New" pitchFamily="34" charset="-122"/>
                <a:cs typeface="Courier New" pitchFamily="34" charset="-120"/>
              </a:rPr>
              <a:t>|   grep   wc</a:t>
            </a:r>
            <a:endParaRPr lang="en-US" sz="1400" dirty="0"/>
          </a:p>
        </p:txBody>
      </p:sp>
      <p:sp>
        <p:nvSpPr>
          <p:cNvPr id="27" name="Text 25"/>
          <p:cNvSpPr/>
          <p:nvPr/>
        </p:nvSpPr>
        <p:spPr>
          <a:xfrm>
            <a:off x="7607808" y="4270248"/>
            <a:ext cx="4069080" cy="320040"/>
          </a:xfrm>
          <a:prstGeom prst="rect">
            <a:avLst/>
          </a:prstGeom>
          <a:noFill/>
          <a:ln/>
        </p:spPr>
        <p:txBody>
          <a:bodyPr wrap="square" lIns="0" tIns="0" rIns="0" bIns="0" rtlCol="0" anchor="ctr"/>
          <a:lstStyle/>
          <a:p>
            <a:pPr indent="0" marL="0">
              <a:buNone/>
            </a:pPr>
            <a:r>
              <a:rPr lang="en-US" sz="1300" i="1" dirty="0">
                <a:solidFill>
                  <a:srgbClr val="8B949E"/>
                </a:solidFill>
                <a:latin typeface="Calibri" pitchFamily="34" charset="0"/>
                <a:ea typeface="Calibri" pitchFamily="34" charset="-122"/>
                <a:cs typeface="Calibri" pitchFamily="34" charset="-120"/>
              </a:rPr>
              <a:t>add log alerts</a:t>
            </a:r>
            <a:endParaRPr lang="en-US" sz="1300" dirty="0"/>
          </a:p>
        </p:txBody>
      </p:sp>
      <p:sp>
        <p:nvSpPr>
          <p:cNvPr id="28" name="Shape 26"/>
          <p:cNvSpPr/>
          <p:nvPr/>
        </p:nvSpPr>
        <p:spPr>
          <a:xfrm>
            <a:off x="658368" y="4855464"/>
            <a:ext cx="5532120" cy="1325880"/>
          </a:xfrm>
          <a:prstGeom prst="roundRect">
            <a:avLst>
              <a:gd name="adj" fmla="val 4828"/>
            </a:avLst>
          </a:prstGeom>
          <a:solidFill>
            <a:srgbClr val="161B22"/>
          </a:solidFill>
          <a:ln w="12700">
            <a:solidFill>
              <a:srgbClr val="30363D"/>
            </a:solidFill>
            <a:prstDash val="solid"/>
          </a:ln>
        </p:spPr>
      </p:sp>
      <p:sp>
        <p:nvSpPr>
          <p:cNvPr id="29" name="Shape 27"/>
          <p:cNvSpPr/>
          <p:nvPr/>
        </p:nvSpPr>
        <p:spPr>
          <a:xfrm>
            <a:off x="886968" y="5111496"/>
            <a:ext cx="822960" cy="822960"/>
          </a:xfrm>
          <a:prstGeom prst="roundRect">
            <a:avLst>
              <a:gd name="adj" fmla="val 6667"/>
            </a:avLst>
          </a:prstGeom>
          <a:solidFill>
            <a:srgbClr val="0D1117"/>
          </a:solidFill>
          <a:ln w="19050">
            <a:solidFill>
              <a:srgbClr val="3FB950"/>
            </a:solidFill>
            <a:prstDash val="solid"/>
          </a:ln>
        </p:spPr>
      </p:sp>
      <p:sp>
        <p:nvSpPr>
          <p:cNvPr id="30" name="Text 28"/>
          <p:cNvSpPr/>
          <p:nvPr/>
        </p:nvSpPr>
        <p:spPr>
          <a:xfrm>
            <a:off x="886968" y="5111496"/>
            <a:ext cx="822960" cy="822960"/>
          </a:xfrm>
          <a:prstGeom prst="rect">
            <a:avLst/>
          </a:prstGeom>
          <a:noFill/>
          <a:ln/>
        </p:spPr>
        <p:txBody>
          <a:bodyPr wrap="square" lIns="0" tIns="0" rIns="0" bIns="0" rtlCol="0" anchor="ctr"/>
          <a:lstStyle/>
          <a:p>
            <a:pPr algn="ctr" indent="0" marL="0">
              <a:buNone/>
            </a:pPr>
            <a:r>
              <a:rPr lang="en-US" sz="3000" b="1" dirty="0">
                <a:solidFill>
                  <a:srgbClr val="3FB950"/>
                </a:solidFill>
                <a:latin typeface="Arial" pitchFamily="34" charset="0"/>
                <a:ea typeface="Arial" pitchFamily="34" charset="-122"/>
                <a:cs typeface="Arial" pitchFamily="34" charset="-120"/>
              </a:rPr>
              <a:t>5</a:t>
            </a:r>
            <a:endParaRPr lang="en-US" sz="3000" dirty="0"/>
          </a:p>
        </p:txBody>
      </p:sp>
      <p:sp>
        <p:nvSpPr>
          <p:cNvPr id="31" name="Text 29"/>
          <p:cNvSpPr/>
          <p:nvPr/>
        </p:nvSpPr>
        <p:spPr>
          <a:xfrm>
            <a:off x="1892808" y="5074920"/>
            <a:ext cx="4069080" cy="411480"/>
          </a:xfrm>
          <a:prstGeom prst="rect">
            <a:avLst/>
          </a:prstGeom>
          <a:noFill/>
          <a:ln/>
        </p:spPr>
        <p:txBody>
          <a:bodyPr wrap="square" lIns="0" tIns="0" rIns="0" bIns="0" rtlCol="0" anchor="ctr"/>
          <a:lstStyle/>
          <a:p>
            <a:pPr indent="0" marL="0">
              <a:buNone/>
            </a:pPr>
            <a:r>
              <a:rPr lang="en-US" sz="1900" b="1" dirty="0">
                <a:solidFill>
                  <a:srgbClr val="E6EDF3"/>
                </a:solidFill>
                <a:latin typeface="Arial" pitchFamily="34" charset="0"/>
                <a:ea typeface="Arial" pitchFamily="34" charset="-122"/>
                <a:cs typeface="Arial" pitchFamily="34" charset="-120"/>
              </a:rPr>
              <a:t>Run it</a:t>
            </a:r>
            <a:endParaRPr lang="en-US" sz="1900" dirty="0"/>
          </a:p>
        </p:txBody>
      </p:sp>
      <p:sp>
        <p:nvSpPr>
          <p:cNvPr id="32" name="Text 30"/>
          <p:cNvSpPr/>
          <p:nvPr/>
        </p:nvSpPr>
        <p:spPr>
          <a:xfrm>
            <a:off x="1892808" y="5458968"/>
            <a:ext cx="4069080" cy="320040"/>
          </a:xfrm>
          <a:prstGeom prst="rect">
            <a:avLst/>
          </a:prstGeom>
          <a:noFill/>
          <a:ln/>
        </p:spPr>
        <p:txBody>
          <a:bodyPr wrap="square" lIns="0" tIns="0" rIns="0" bIns="0" rtlCol="0" anchor="ctr"/>
          <a:lstStyle/>
          <a:p>
            <a:pPr indent="0" marL="0">
              <a:buNone/>
            </a:pPr>
            <a:r>
              <a:rPr lang="en-US" sz="1400" dirty="0">
                <a:solidFill>
                  <a:srgbClr val="3FB950"/>
                </a:solidFill>
                <a:latin typeface="Courier New" pitchFamily="34" charset="0"/>
                <a:ea typeface="Courier New" pitchFamily="34" charset="-122"/>
                <a:cs typeface="Courier New" pitchFamily="34" charset="-120"/>
              </a:rPr>
              <a:t>chmod +x</a:t>
            </a:r>
            <a:endParaRPr lang="en-US" sz="1400" dirty="0"/>
          </a:p>
        </p:txBody>
      </p:sp>
      <p:sp>
        <p:nvSpPr>
          <p:cNvPr id="33" name="Text 31"/>
          <p:cNvSpPr/>
          <p:nvPr/>
        </p:nvSpPr>
        <p:spPr>
          <a:xfrm>
            <a:off x="1892808" y="5760720"/>
            <a:ext cx="4069080" cy="320040"/>
          </a:xfrm>
          <a:prstGeom prst="rect">
            <a:avLst/>
          </a:prstGeom>
          <a:noFill/>
          <a:ln/>
        </p:spPr>
        <p:txBody>
          <a:bodyPr wrap="square" lIns="0" tIns="0" rIns="0" bIns="0" rtlCol="0" anchor="ctr"/>
          <a:lstStyle/>
          <a:p>
            <a:pPr indent="0" marL="0">
              <a:buNone/>
            </a:pPr>
            <a:r>
              <a:rPr lang="en-US" sz="1300" i="1" dirty="0">
                <a:solidFill>
                  <a:srgbClr val="8B949E"/>
                </a:solidFill>
                <a:latin typeface="Calibri" pitchFamily="34" charset="0"/>
                <a:ea typeface="Calibri" pitchFamily="34" charset="-122"/>
                <a:cs typeface="Calibri" pitchFamily="34" charset="-120"/>
              </a:rPr>
              <a:t>→ it runs!  (the payoff)</a:t>
            </a:r>
            <a:endParaRPr lang="en-US" sz="1300" dirty="0"/>
          </a:p>
        </p:txBody>
      </p:sp>
      <p:sp>
        <p:nvSpPr>
          <p:cNvPr id="34" name="Shape 32"/>
          <p:cNvSpPr/>
          <p:nvPr/>
        </p:nvSpPr>
        <p:spPr>
          <a:xfrm>
            <a:off x="6373368" y="4855464"/>
            <a:ext cx="5532120" cy="1325880"/>
          </a:xfrm>
          <a:prstGeom prst="roundRect">
            <a:avLst>
              <a:gd name="adj" fmla="val 4828"/>
            </a:avLst>
          </a:prstGeom>
          <a:solidFill>
            <a:srgbClr val="161B22"/>
          </a:solidFill>
          <a:ln w="12700">
            <a:solidFill>
              <a:srgbClr val="30363D"/>
            </a:solidFill>
            <a:prstDash val="solid"/>
          </a:ln>
        </p:spPr>
      </p:sp>
      <p:sp>
        <p:nvSpPr>
          <p:cNvPr id="35" name="Shape 33"/>
          <p:cNvSpPr/>
          <p:nvPr/>
        </p:nvSpPr>
        <p:spPr>
          <a:xfrm>
            <a:off x="6601968" y="5111496"/>
            <a:ext cx="822960" cy="822960"/>
          </a:xfrm>
          <a:prstGeom prst="roundRect">
            <a:avLst>
              <a:gd name="adj" fmla="val 6667"/>
            </a:avLst>
          </a:prstGeom>
          <a:solidFill>
            <a:srgbClr val="0D1117"/>
          </a:solidFill>
          <a:ln w="19050">
            <a:solidFill>
              <a:srgbClr val="3FB950"/>
            </a:solidFill>
            <a:prstDash val="solid"/>
          </a:ln>
        </p:spPr>
      </p:sp>
      <p:sp>
        <p:nvSpPr>
          <p:cNvPr id="36" name="Text 34"/>
          <p:cNvSpPr/>
          <p:nvPr/>
        </p:nvSpPr>
        <p:spPr>
          <a:xfrm>
            <a:off x="6601968" y="5111496"/>
            <a:ext cx="822960" cy="822960"/>
          </a:xfrm>
          <a:prstGeom prst="rect">
            <a:avLst/>
          </a:prstGeom>
          <a:noFill/>
          <a:ln/>
        </p:spPr>
        <p:txBody>
          <a:bodyPr wrap="square" lIns="0" tIns="0" rIns="0" bIns="0" rtlCol="0" anchor="ctr"/>
          <a:lstStyle/>
          <a:p>
            <a:pPr algn="ctr" indent="0" marL="0">
              <a:buNone/>
            </a:pPr>
            <a:r>
              <a:rPr lang="en-US" sz="3000" b="1" dirty="0">
                <a:solidFill>
                  <a:srgbClr val="3FB950"/>
                </a:solidFill>
                <a:latin typeface="Arial" pitchFamily="34" charset="0"/>
                <a:ea typeface="Arial" pitchFamily="34" charset="-122"/>
                <a:cs typeface="Arial" pitchFamily="34" charset="-120"/>
              </a:rPr>
              <a:t>6</a:t>
            </a:r>
            <a:endParaRPr lang="en-US" sz="3000" dirty="0"/>
          </a:p>
        </p:txBody>
      </p:sp>
      <p:sp>
        <p:nvSpPr>
          <p:cNvPr id="37" name="Text 35"/>
          <p:cNvSpPr/>
          <p:nvPr/>
        </p:nvSpPr>
        <p:spPr>
          <a:xfrm>
            <a:off x="7607808" y="5074920"/>
            <a:ext cx="4069080" cy="411480"/>
          </a:xfrm>
          <a:prstGeom prst="rect">
            <a:avLst/>
          </a:prstGeom>
          <a:noFill/>
          <a:ln/>
        </p:spPr>
        <p:txBody>
          <a:bodyPr wrap="square" lIns="0" tIns="0" rIns="0" bIns="0" rtlCol="0" anchor="ctr"/>
          <a:lstStyle/>
          <a:p>
            <a:pPr indent="0" marL="0">
              <a:buNone/>
            </a:pPr>
            <a:r>
              <a:rPr lang="en-US" sz="1900" b="1" dirty="0">
                <a:solidFill>
                  <a:srgbClr val="E6EDF3"/>
                </a:solidFill>
                <a:latin typeface="Arial" pitchFamily="34" charset="0"/>
                <a:ea typeface="Arial" pitchFamily="34" charset="-122"/>
                <a:cs typeface="Arial" pitchFamily="34" charset="-120"/>
              </a:rPr>
              <a:t>Manage</a:t>
            </a:r>
            <a:endParaRPr lang="en-US" sz="1900" dirty="0"/>
          </a:p>
        </p:txBody>
      </p:sp>
      <p:sp>
        <p:nvSpPr>
          <p:cNvPr id="38" name="Text 36"/>
          <p:cNvSpPr/>
          <p:nvPr/>
        </p:nvSpPr>
        <p:spPr>
          <a:xfrm>
            <a:off x="7607808" y="5458968"/>
            <a:ext cx="4069080" cy="320040"/>
          </a:xfrm>
          <a:prstGeom prst="rect">
            <a:avLst/>
          </a:prstGeom>
          <a:noFill/>
          <a:ln/>
        </p:spPr>
        <p:txBody>
          <a:bodyPr wrap="square" lIns="0" tIns="0" rIns="0" bIns="0" rtlCol="0" anchor="ctr"/>
          <a:lstStyle/>
          <a:p>
            <a:pPr indent="0" marL="0">
              <a:buNone/>
            </a:pPr>
            <a:r>
              <a:rPr lang="en-US" sz="1400" dirty="0">
                <a:solidFill>
                  <a:srgbClr val="3FB950"/>
                </a:solidFill>
                <a:latin typeface="Courier New" pitchFamily="34" charset="0"/>
                <a:ea typeface="Courier New" pitchFamily="34" charset="-122"/>
                <a:cs typeface="Courier New" pitchFamily="34" charset="-120"/>
              </a:rPr>
              <a:t>ps  kill</a:t>
            </a:r>
            <a:endParaRPr lang="en-US" sz="1400" dirty="0"/>
          </a:p>
        </p:txBody>
      </p:sp>
      <p:sp>
        <p:nvSpPr>
          <p:cNvPr id="39" name="Text 37"/>
          <p:cNvSpPr/>
          <p:nvPr/>
        </p:nvSpPr>
        <p:spPr>
          <a:xfrm>
            <a:off x="7607808" y="5760720"/>
            <a:ext cx="4069080" cy="320040"/>
          </a:xfrm>
          <a:prstGeom prst="rect">
            <a:avLst/>
          </a:prstGeom>
          <a:noFill/>
          <a:ln/>
        </p:spPr>
        <p:txBody>
          <a:bodyPr wrap="square" lIns="0" tIns="0" rIns="0" bIns="0" rtlCol="0" anchor="ctr"/>
          <a:lstStyle/>
          <a:p>
            <a:pPr indent="0" marL="0">
              <a:buNone/>
            </a:pPr>
            <a:r>
              <a:rPr lang="en-US" sz="1300" i="1" dirty="0">
                <a:solidFill>
                  <a:srgbClr val="8B949E"/>
                </a:solidFill>
                <a:latin typeface="Calibri" pitchFamily="34" charset="0"/>
                <a:ea typeface="Calibri" pitchFamily="34" charset="-122"/>
                <a:cs typeface="Calibri" pitchFamily="34" charset="-120"/>
              </a:rPr>
              <a:t>run it in the background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502920"/>
            <a:ext cx="10058400" cy="640080"/>
          </a:xfrm>
          <a:prstGeom prst="rect">
            <a:avLst/>
          </a:prstGeom>
          <a:noFill/>
          <a:ln/>
        </p:spPr>
        <p:txBody>
          <a:bodyPr wrap="square" lIns="0" tIns="0" rIns="0" bIns="0" rtlCol="0" anchor="ctr"/>
          <a:lstStyle/>
          <a:p>
            <a:pPr indent="0" marL="0">
              <a:buNone/>
            </a:pPr>
            <a:r>
              <a:rPr lang="en-US" sz="3600" b="1" dirty="0">
                <a:solidFill>
                  <a:srgbClr val="E6EDF3"/>
                </a:solidFill>
                <a:latin typeface="Arial" pitchFamily="34" charset="0"/>
                <a:ea typeface="Arial" pitchFamily="34" charset="-122"/>
                <a:cs typeface="Arial" pitchFamily="34" charset="-120"/>
              </a:rPr>
              <a:t>Vim: the only 4 things you need</a:t>
            </a:r>
            <a:endParaRPr lang="en-US" sz="3600" dirty="0"/>
          </a:p>
        </p:txBody>
      </p:sp>
      <p:sp>
        <p:nvSpPr>
          <p:cNvPr id="3" name="Text 1"/>
          <p:cNvSpPr/>
          <p:nvPr/>
        </p:nvSpPr>
        <p:spPr>
          <a:xfrm>
            <a:off x="658368" y="1280160"/>
            <a:ext cx="10789920" cy="640080"/>
          </a:xfrm>
          <a:prstGeom prst="rect">
            <a:avLst/>
          </a:prstGeom>
          <a:noFill/>
          <a:ln/>
        </p:spPr>
        <p:txBody>
          <a:bodyPr wrap="square" lIns="0" tIns="0" rIns="0" bIns="0" rtlCol="0" anchor="ctr"/>
          <a:lstStyle/>
          <a:p>
            <a:pPr indent="0" marL="0">
              <a:buNone/>
            </a:pPr>
            <a:r>
              <a:rPr lang="en-US" sz="1700" dirty="0">
                <a:solidFill>
                  <a:srgbClr val="8B949E"/>
                </a:solidFill>
                <a:latin typeface="Calibri" pitchFamily="34" charset="0"/>
                <a:ea typeface="Calibri" pitchFamily="34" charset="-122"/>
                <a:cs typeface="Calibri" pitchFamily="34" charset="-120"/>
              </a:rPr>
              <a:t>Vim is a text editor inside the terminal. It has two modes: NORMAL (keys are commands) and INSERT (keys type text). That's the whole trick.</a:t>
            </a:r>
            <a:endParaRPr lang="en-US" sz="1700" dirty="0"/>
          </a:p>
        </p:txBody>
      </p:sp>
      <p:sp>
        <p:nvSpPr>
          <p:cNvPr id="4" name="Shape 2"/>
          <p:cNvSpPr/>
          <p:nvPr/>
        </p:nvSpPr>
        <p:spPr>
          <a:xfrm>
            <a:off x="658368" y="2240280"/>
            <a:ext cx="2670048" cy="2194560"/>
          </a:xfrm>
          <a:prstGeom prst="roundRect">
            <a:avLst>
              <a:gd name="adj" fmla="val 3333"/>
            </a:avLst>
          </a:prstGeom>
          <a:solidFill>
            <a:srgbClr val="010409"/>
          </a:solidFill>
          <a:ln w="12700">
            <a:solidFill>
              <a:srgbClr val="30363D"/>
            </a:solidFill>
            <a:prstDash val="solid"/>
          </a:ln>
        </p:spPr>
      </p:sp>
      <p:sp>
        <p:nvSpPr>
          <p:cNvPr id="5" name="Text 3"/>
          <p:cNvSpPr/>
          <p:nvPr/>
        </p:nvSpPr>
        <p:spPr>
          <a:xfrm>
            <a:off x="886968" y="2423160"/>
            <a:ext cx="548640" cy="457200"/>
          </a:xfrm>
          <a:prstGeom prst="rect">
            <a:avLst/>
          </a:prstGeom>
          <a:noFill/>
          <a:ln/>
        </p:spPr>
        <p:txBody>
          <a:bodyPr wrap="square" lIns="0" tIns="0" rIns="0" bIns="0" rtlCol="0" anchor="ctr"/>
          <a:lstStyle/>
          <a:p>
            <a:pPr indent="0" marL="0">
              <a:buNone/>
            </a:pPr>
            <a:r>
              <a:rPr lang="en-US" sz="1800" b="1" dirty="0">
                <a:solidFill>
                  <a:srgbClr val="8B949E"/>
                </a:solidFill>
                <a:latin typeface="Arial" pitchFamily="34" charset="0"/>
                <a:ea typeface="Arial" pitchFamily="34" charset="-122"/>
                <a:cs typeface="Arial" pitchFamily="34" charset="-120"/>
              </a:rPr>
              <a:t>1</a:t>
            </a:r>
            <a:endParaRPr lang="en-US" sz="1800" dirty="0"/>
          </a:p>
        </p:txBody>
      </p:sp>
      <p:sp>
        <p:nvSpPr>
          <p:cNvPr id="6" name="Text 4"/>
          <p:cNvSpPr/>
          <p:nvPr/>
        </p:nvSpPr>
        <p:spPr>
          <a:xfrm>
            <a:off x="841248" y="3017520"/>
            <a:ext cx="2304288" cy="548640"/>
          </a:xfrm>
          <a:prstGeom prst="rect">
            <a:avLst/>
          </a:prstGeom>
          <a:noFill/>
          <a:ln/>
        </p:spPr>
        <p:txBody>
          <a:bodyPr wrap="square" lIns="0" tIns="0" rIns="0" bIns="0" rtlCol="0" anchor="ctr"/>
          <a:lstStyle/>
          <a:p>
            <a:pPr algn="ctr" indent="0" marL="0">
              <a:buNone/>
            </a:pPr>
            <a:r>
              <a:rPr lang="en-US" sz="2200" b="1" dirty="0">
                <a:solidFill>
                  <a:srgbClr val="3FB950"/>
                </a:solidFill>
                <a:latin typeface="Courier New" pitchFamily="34" charset="0"/>
                <a:ea typeface="Courier New" pitchFamily="34" charset="-122"/>
                <a:cs typeface="Courier New" pitchFamily="34" charset="-120"/>
              </a:rPr>
              <a:t>vim file</a:t>
            </a:r>
            <a:endParaRPr lang="en-US" sz="2200" dirty="0"/>
          </a:p>
        </p:txBody>
      </p:sp>
      <p:sp>
        <p:nvSpPr>
          <p:cNvPr id="7" name="Text 5"/>
          <p:cNvSpPr/>
          <p:nvPr/>
        </p:nvSpPr>
        <p:spPr>
          <a:xfrm>
            <a:off x="841248" y="3657600"/>
            <a:ext cx="2304288" cy="640080"/>
          </a:xfrm>
          <a:prstGeom prst="rect">
            <a:avLst/>
          </a:prstGeom>
          <a:noFill/>
          <a:ln/>
        </p:spPr>
        <p:txBody>
          <a:bodyPr wrap="square" lIns="0" tIns="0" rIns="0" bIns="0" rtlCol="0" anchor="t"/>
          <a:lstStyle/>
          <a:p>
            <a:pPr algn="ctr" indent="0" marL="0">
              <a:buNone/>
            </a:pPr>
            <a:r>
              <a:rPr lang="en-US" sz="1400" dirty="0">
                <a:solidFill>
                  <a:srgbClr val="E6EDF3"/>
                </a:solidFill>
                <a:latin typeface="Calibri" pitchFamily="34" charset="0"/>
                <a:ea typeface="Calibri" pitchFamily="34" charset="-122"/>
                <a:cs typeface="Calibri" pitchFamily="34" charset="-120"/>
              </a:rPr>
              <a:t>Open the file</a:t>
            </a:r>
            <a:endParaRPr lang="en-US" sz="1400" dirty="0"/>
          </a:p>
        </p:txBody>
      </p:sp>
      <p:sp>
        <p:nvSpPr>
          <p:cNvPr id="8" name="Shape 6"/>
          <p:cNvSpPr/>
          <p:nvPr/>
        </p:nvSpPr>
        <p:spPr>
          <a:xfrm>
            <a:off x="3474720" y="2240280"/>
            <a:ext cx="2670048" cy="2194560"/>
          </a:xfrm>
          <a:prstGeom prst="roundRect">
            <a:avLst>
              <a:gd name="adj" fmla="val 3333"/>
            </a:avLst>
          </a:prstGeom>
          <a:solidFill>
            <a:srgbClr val="010409"/>
          </a:solidFill>
          <a:ln w="12700">
            <a:solidFill>
              <a:srgbClr val="30363D"/>
            </a:solidFill>
            <a:prstDash val="solid"/>
          </a:ln>
        </p:spPr>
      </p:sp>
      <p:sp>
        <p:nvSpPr>
          <p:cNvPr id="9" name="Text 7"/>
          <p:cNvSpPr/>
          <p:nvPr/>
        </p:nvSpPr>
        <p:spPr>
          <a:xfrm>
            <a:off x="3703320" y="2423160"/>
            <a:ext cx="548640" cy="457200"/>
          </a:xfrm>
          <a:prstGeom prst="rect">
            <a:avLst/>
          </a:prstGeom>
          <a:noFill/>
          <a:ln/>
        </p:spPr>
        <p:txBody>
          <a:bodyPr wrap="square" lIns="0" tIns="0" rIns="0" bIns="0" rtlCol="0" anchor="ctr"/>
          <a:lstStyle/>
          <a:p>
            <a:pPr indent="0" marL="0">
              <a:buNone/>
            </a:pPr>
            <a:r>
              <a:rPr lang="en-US" sz="1800" b="1" dirty="0">
                <a:solidFill>
                  <a:srgbClr val="8B949E"/>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3657600" y="3017520"/>
            <a:ext cx="2304288" cy="548640"/>
          </a:xfrm>
          <a:prstGeom prst="rect">
            <a:avLst/>
          </a:prstGeom>
          <a:noFill/>
          <a:ln/>
        </p:spPr>
        <p:txBody>
          <a:bodyPr wrap="square" lIns="0" tIns="0" rIns="0" bIns="0" rtlCol="0" anchor="ctr"/>
          <a:lstStyle/>
          <a:p>
            <a:pPr algn="ctr" indent="0" marL="0">
              <a:buNone/>
            </a:pPr>
            <a:r>
              <a:rPr lang="en-US" sz="2200" b="1" dirty="0">
                <a:solidFill>
                  <a:srgbClr val="3FB950"/>
                </a:solidFill>
                <a:latin typeface="Courier New" pitchFamily="34" charset="0"/>
                <a:ea typeface="Courier New" pitchFamily="34" charset="-122"/>
                <a:cs typeface="Courier New" pitchFamily="34" charset="-120"/>
              </a:rPr>
              <a:t>i</a:t>
            </a:r>
            <a:endParaRPr lang="en-US" sz="2200" dirty="0"/>
          </a:p>
        </p:txBody>
      </p:sp>
      <p:sp>
        <p:nvSpPr>
          <p:cNvPr id="11" name="Text 9"/>
          <p:cNvSpPr/>
          <p:nvPr/>
        </p:nvSpPr>
        <p:spPr>
          <a:xfrm>
            <a:off x="3657600" y="3657600"/>
            <a:ext cx="2304288" cy="640080"/>
          </a:xfrm>
          <a:prstGeom prst="rect">
            <a:avLst/>
          </a:prstGeom>
          <a:noFill/>
          <a:ln/>
        </p:spPr>
        <p:txBody>
          <a:bodyPr wrap="square" lIns="0" tIns="0" rIns="0" bIns="0" rtlCol="0" anchor="t"/>
          <a:lstStyle/>
          <a:p>
            <a:pPr algn="ctr" indent="0" marL="0">
              <a:buNone/>
            </a:pPr>
            <a:r>
              <a:rPr lang="en-US" sz="1400" dirty="0">
                <a:solidFill>
                  <a:srgbClr val="E6EDF3"/>
                </a:solidFill>
                <a:latin typeface="Calibri" pitchFamily="34" charset="0"/>
                <a:ea typeface="Calibri" pitchFamily="34" charset="-122"/>
                <a:cs typeface="Calibri" pitchFamily="34" charset="-120"/>
              </a:rPr>
              <a:t>Start typing  (INSERT)</a:t>
            </a:r>
            <a:endParaRPr lang="en-US" sz="1400" dirty="0"/>
          </a:p>
        </p:txBody>
      </p:sp>
      <p:sp>
        <p:nvSpPr>
          <p:cNvPr id="12" name="Shape 10"/>
          <p:cNvSpPr/>
          <p:nvPr/>
        </p:nvSpPr>
        <p:spPr>
          <a:xfrm>
            <a:off x="6291072" y="2240280"/>
            <a:ext cx="2670048" cy="2194560"/>
          </a:xfrm>
          <a:prstGeom prst="roundRect">
            <a:avLst>
              <a:gd name="adj" fmla="val 3333"/>
            </a:avLst>
          </a:prstGeom>
          <a:solidFill>
            <a:srgbClr val="010409"/>
          </a:solidFill>
          <a:ln w="12700">
            <a:solidFill>
              <a:srgbClr val="30363D"/>
            </a:solidFill>
            <a:prstDash val="solid"/>
          </a:ln>
        </p:spPr>
      </p:sp>
      <p:sp>
        <p:nvSpPr>
          <p:cNvPr id="13" name="Text 11"/>
          <p:cNvSpPr/>
          <p:nvPr/>
        </p:nvSpPr>
        <p:spPr>
          <a:xfrm>
            <a:off x="6519672" y="2423160"/>
            <a:ext cx="548640" cy="457200"/>
          </a:xfrm>
          <a:prstGeom prst="rect">
            <a:avLst/>
          </a:prstGeom>
          <a:noFill/>
          <a:ln/>
        </p:spPr>
        <p:txBody>
          <a:bodyPr wrap="square" lIns="0" tIns="0" rIns="0" bIns="0" rtlCol="0" anchor="ctr"/>
          <a:lstStyle/>
          <a:p>
            <a:pPr indent="0" marL="0">
              <a:buNone/>
            </a:pPr>
            <a:r>
              <a:rPr lang="en-US" sz="1800" b="1" dirty="0">
                <a:solidFill>
                  <a:srgbClr val="8B949E"/>
                </a:solidFill>
                <a:latin typeface="Arial" pitchFamily="34" charset="0"/>
                <a:ea typeface="Arial" pitchFamily="34" charset="-122"/>
                <a:cs typeface="Arial" pitchFamily="34" charset="-120"/>
              </a:rPr>
              <a:t>3</a:t>
            </a:r>
            <a:endParaRPr lang="en-US" sz="1800" dirty="0"/>
          </a:p>
        </p:txBody>
      </p:sp>
      <p:sp>
        <p:nvSpPr>
          <p:cNvPr id="14" name="Text 12"/>
          <p:cNvSpPr/>
          <p:nvPr/>
        </p:nvSpPr>
        <p:spPr>
          <a:xfrm>
            <a:off x="6473952" y="3017520"/>
            <a:ext cx="2304288" cy="548640"/>
          </a:xfrm>
          <a:prstGeom prst="rect">
            <a:avLst/>
          </a:prstGeom>
          <a:noFill/>
          <a:ln/>
        </p:spPr>
        <p:txBody>
          <a:bodyPr wrap="square" lIns="0" tIns="0" rIns="0" bIns="0" rtlCol="0" anchor="ctr"/>
          <a:lstStyle/>
          <a:p>
            <a:pPr algn="ctr" indent="0" marL="0">
              <a:buNone/>
            </a:pPr>
            <a:r>
              <a:rPr lang="en-US" sz="2200" b="1" dirty="0">
                <a:solidFill>
                  <a:srgbClr val="3FB950"/>
                </a:solidFill>
                <a:latin typeface="Courier New" pitchFamily="34" charset="0"/>
                <a:ea typeface="Courier New" pitchFamily="34" charset="-122"/>
                <a:cs typeface="Courier New" pitchFamily="34" charset="-120"/>
              </a:rPr>
              <a:t>Esc</a:t>
            </a:r>
            <a:endParaRPr lang="en-US" sz="2200" dirty="0"/>
          </a:p>
        </p:txBody>
      </p:sp>
      <p:sp>
        <p:nvSpPr>
          <p:cNvPr id="15" name="Text 13"/>
          <p:cNvSpPr/>
          <p:nvPr/>
        </p:nvSpPr>
        <p:spPr>
          <a:xfrm>
            <a:off x="6473952" y="3657600"/>
            <a:ext cx="2304288" cy="640080"/>
          </a:xfrm>
          <a:prstGeom prst="rect">
            <a:avLst/>
          </a:prstGeom>
          <a:noFill/>
          <a:ln/>
        </p:spPr>
        <p:txBody>
          <a:bodyPr wrap="square" lIns="0" tIns="0" rIns="0" bIns="0" rtlCol="0" anchor="t"/>
          <a:lstStyle/>
          <a:p>
            <a:pPr algn="ctr" indent="0" marL="0">
              <a:buNone/>
            </a:pPr>
            <a:r>
              <a:rPr lang="en-US" sz="1400" dirty="0">
                <a:solidFill>
                  <a:srgbClr val="E6EDF3"/>
                </a:solidFill>
                <a:latin typeface="Calibri" pitchFamily="34" charset="0"/>
                <a:ea typeface="Calibri" pitchFamily="34" charset="-122"/>
                <a:cs typeface="Calibri" pitchFamily="34" charset="-120"/>
              </a:rPr>
              <a:t>Stop typing  (NORMAL)</a:t>
            </a:r>
            <a:endParaRPr lang="en-US" sz="1400" dirty="0"/>
          </a:p>
        </p:txBody>
      </p:sp>
      <p:sp>
        <p:nvSpPr>
          <p:cNvPr id="16" name="Shape 14"/>
          <p:cNvSpPr/>
          <p:nvPr/>
        </p:nvSpPr>
        <p:spPr>
          <a:xfrm>
            <a:off x="9107424" y="2240280"/>
            <a:ext cx="2670048" cy="2194560"/>
          </a:xfrm>
          <a:prstGeom prst="roundRect">
            <a:avLst>
              <a:gd name="adj" fmla="val 3333"/>
            </a:avLst>
          </a:prstGeom>
          <a:solidFill>
            <a:srgbClr val="010409"/>
          </a:solidFill>
          <a:ln w="12700">
            <a:solidFill>
              <a:srgbClr val="30363D"/>
            </a:solidFill>
            <a:prstDash val="solid"/>
          </a:ln>
        </p:spPr>
      </p:sp>
      <p:sp>
        <p:nvSpPr>
          <p:cNvPr id="17" name="Text 15"/>
          <p:cNvSpPr/>
          <p:nvPr/>
        </p:nvSpPr>
        <p:spPr>
          <a:xfrm>
            <a:off x="9336024" y="2423160"/>
            <a:ext cx="548640" cy="457200"/>
          </a:xfrm>
          <a:prstGeom prst="rect">
            <a:avLst/>
          </a:prstGeom>
          <a:noFill/>
          <a:ln/>
        </p:spPr>
        <p:txBody>
          <a:bodyPr wrap="square" lIns="0" tIns="0" rIns="0" bIns="0" rtlCol="0" anchor="ctr"/>
          <a:lstStyle/>
          <a:p>
            <a:pPr indent="0" marL="0">
              <a:buNone/>
            </a:pPr>
            <a:r>
              <a:rPr lang="en-US" sz="1800" b="1" dirty="0">
                <a:solidFill>
                  <a:srgbClr val="8B949E"/>
                </a:solidFill>
                <a:latin typeface="Arial" pitchFamily="34" charset="0"/>
                <a:ea typeface="Arial" pitchFamily="34" charset="-122"/>
                <a:cs typeface="Arial" pitchFamily="34" charset="-120"/>
              </a:rPr>
              <a:t>4</a:t>
            </a:r>
            <a:endParaRPr lang="en-US" sz="1800" dirty="0"/>
          </a:p>
        </p:txBody>
      </p:sp>
      <p:sp>
        <p:nvSpPr>
          <p:cNvPr id="18" name="Text 16"/>
          <p:cNvSpPr/>
          <p:nvPr/>
        </p:nvSpPr>
        <p:spPr>
          <a:xfrm>
            <a:off x="9290304" y="3017520"/>
            <a:ext cx="2304288" cy="548640"/>
          </a:xfrm>
          <a:prstGeom prst="rect">
            <a:avLst/>
          </a:prstGeom>
          <a:noFill/>
          <a:ln/>
        </p:spPr>
        <p:txBody>
          <a:bodyPr wrap="square" lIns="0" tIns="0" rIns="0" bIns="0" rtlCol="0" anchor="ctr"/>
          <a:lstStyle/>
          <a:p>
            <a:pPr algn="ctr" indent="0" marL="0">
              <a:buNone/>
            </a:pPr>
            <a:r>
              <a:rPr lang="en-US" sz="2200" b="1" dirty="0">
                <a:solidFill>
                  <a:srgbClr val="3FB950"/>
                </a:solidFill>
                <a:latin typeface="Courier New" pitchFamily="34" charset="0"/>
                <a:ea typeface="Courier New" pitchFamily="34" charset="-122"/>
                <a:cs typeface="Courier New" pitchFamily="34" charset="-120"/>
              </a:rPr>
              <a:t>:wq</a:t>
            </a:r>
            <a:endParaRPr lang="en-US" sz="2200" dirty="0"/>
          </a:p>
        </p:txBody>
      </p:sp>
      <p:sp>
        <p:nvSpPr>
          <p:cNvPr id="19" name="Text 17"/>
          <p:cNvSpPr/>
          <p:nvPr/>
        </p:nvSpPr>
        <p:spPr>
          <a:xfrm>
            <a:off x="9290304" y="3657600"/>
            <a:ext cx="2304288" cy="640080"/>
          </a:xfrm>
          <a:prstGeom prst="rect">
            <a:avLst/>
          </a:prstGeom>
          <a:noFill/>
          <a:ln/>
        </p:spPr>
        <p:txBody>
          <a:bodyPr wrap="square" lIns="0" tIns="0" rIns="0" bIns="0" rtlCol="0" anchor="t"/>
          <a:lstStyle/>
          <a:p>
            <a:pPr algn="ctr" indent="0" marL="0">
              <a:buNone/>
            </a:pPr>
            <a:r>
              <a:rPr lang="en-US" sz="1400" dirty="0">
                <a:solidFill>
                  <a:srgbClr val="E6EDF3"/>
                </a:solidFill>
                <a:latin typeface="Calibri" pitchFamily="34" charset="0"/>
                <a:ea typeface="Calibri" pitchFamily="34" charset="-122"/>
                <a:cs typeface="Calibri" pitchFamily="34" charset="-120"/>
              </a:rPr>
              <a:t>Save and quit</a:t>
            </a:r>
            <a:endParaRPr lang="en-US" sz="1400" dirty="0"/>
          </a:p>
        </p:txBody>
      </p:sp>
      <p:sp>
        <p:nvSpPr>
          <p:cNvPr id="20" name="Shape 18"/>
          <p:cNvSpPr/>
          <p:nvPr/>
        </p:nvSpPr>
        <p:spPr>
          <a:xfrm>
            <a:off x="658368" y="4800600"/>
            <a:ext cx="10881360" cy="1463040"/>
          </a:xfrm>
          <a:prstGeom prst="roundRect">
            <a:avLst>
              <a:gd name="adj" fmla="val 5000"/>
            </a:avLst>
          </a:prstGeom>
          <a:solidFill>
            <a:srgbClr val="161B22"/>
          </a:solidFill>
          <a:ln w="12700">
            <a:solidFill>
              <a:srgbClr val="D29922"/>
            </a:solidFill>
            <a:prstDash val="solid"/>
          </a:ln>
        </p:spPr>
      </p:sp>
      <p:sp>
        <p:nvSpPr>
          <p:cNvPr id="21" name="Shape 19"/>
          <p:cNvSpPr/>
          <p:nvPr/>
        </p:nvSpPr>
        <p:spPr>
          <a:xfrm>
            <a:off x="1051560" y="5212080"/>
            <a:ext cx="640080" cy="640080"/>
          </a:xfrm>
          <a:prstGeom prst="ellipse">
            <a:avLst/>
          </a:prstGeom>
          <a:solidFill>
            <a:srgbClr val="D29922"/>
          </a:solidFill>
          <a:ln/>
        </p:spPr>
      </p:sp>
      <p:sp>
        <p:nvSpPr>
          <p:cNvPr id="22" name="Text 20"/>
          <p:cNvSpPr/>
          <p:nvPr/>
        </p:nvSpPr>
        <p:spPr>
          <a:xfrm>
            <a:off x="1051560" y="5212080"/>
            <a:ext cx="640080" cy="640080"/>
          </a:xfrm>
          <a:prstGeom prst="rect">
            <a:avLst/>
          </a:prstGeom>
          <a:noFill/>
          <a:ln/>
        </p:spPr>
        <p:txBody>
          <a:bodyPr wrap="square" lIns="0" tIns="0" rIns="0" bIns="0" rtlCol="0" anchor="ctr"/>
          <a:lstStyle/>
          <a:p>
            <a:pPr algn="ctr" indent="0" marL="0">
              <a:buNone/>
            </a:pPr>
            <a:r>
              <a:rPr lang="en-US" sz="3400" b="1" dirty="0">
                <a:solidFill>
                  <a:srgbClr val="0D1117"/>
                </a:solidFill>
                <a:latin typeface="Arial" pitchFamily="34" charset="0"/>
                <a:ea typeface="Arial" pitchFamily="34" charset="-122"/>
                <a:cs typeface="Arial" pitchFamily="34" charset="-120"/>
              </a:rPr>
              <a:t>!</a:t>
            </a:r>
            <a:endParaRPr lang="en-US" sz="3400" dirty="0"/>
          </a:p>
        </p:txBody>
      </p:sp>
      <p:sp>
        <p:nvSpPr>
          <p:cNvPr id="23" name="Text 21"/>
          <p:cNvSpPr/>
          <p:nvPr/>
        </p:nvSpPr>
        <p:spPr>
          <a:xfrm>
            <a:off x="1874520" y="5029200"/>
            <a:ext cx="9418320" cy="1005840"/>
          </a:xfrm>
          <a:prstGeom prst="rect">
            <a:avLst/>
          </a:prstGeom>
          <a:noFill/>
          <a:ln/>
        </p:spPr>
        <p:txBody>
          <a:bodyPr wrap="square" lIns="0" tIns="0" rIns="0" bIns="0" rtlCol="0" anchor="ctr"/>
          <a:lstStyle/>
          <a:p>
            <a:pPr indent="0" marL="0">
              <a:buNone/>
            </a:pPr>
            <a:r>
              <a:rPr lang="en-US" sz="1500" b="1" dirty="0">
                <a:solidFill>
                  <a:srgbClr val="E6EDF3"/>
                </a:solidFill>
                <a:latin typeface="Calibri" pitchFamily="34" charset="0"/>
                <a:ea typeface="Calibri" pitchFamily="34" charset="-122"/>
                <a:cs typeface="Calibri" pitchFamily="34" charset="-120"/>
              </a:rPr>
              <a:t>Lost? </a:t>
            </a:r>
            <a:pPr indent="0" marL="0">
              <a:buNone/>
            </a:pPr>
            <a:r>
              <a:rPr lang="en-US" sz="1500" dirty="0">
                <a:solidFill>
                  <a:srgbClr val="8B949E"/>
                </a:solidFill>
                <a:latin typeface="Calibri" pitchFamily="34" charset="0"/>
                <a:ea typeface="Calibri" pitchFamily="34" charset="-122"/>
                <a:cs typeface="Calibri" pitchFamily="34" charset="-120"/>
              </a:rPr>
              <a:t>Press Esc — you're back in NORMAL mode.    </a:t>
            </a:r>
            <a:pPr indent="0" marL="0">
              <a:buNone/>
            </a:pPr>
            <a:r>
              <a:rPr lang="en-US" sz="1500" b="1" dirty="0">
                <a:solidFill>
                  <a:srgbClr val="E6EDF3"/>
                </a:solidFill>
                <a:latin typeface="Calibri" pitchFamily="34" charset="0"/>
                <a:ea typeface="Calibri" pitchFamily="34" charset="-122"/>
                <a:cs typeface="Calibri" pitchFamily="34" charset="-120"/>
              </a:rPr>
              <a:t>Total mess? </a:t>
            </a:r>
            <a:pPr indent="0" marL="0">
              <a:buNone/>
            </a:pPr>
            <a:r>
              <a:rPr lang="en-US" sz="1500" dirty="0">
                <a:solidFill>
                  <a:srgbClr val="8B949E"/>
                </a:solidFill>
                <a:latin typeface="Calibri" pitchFamily="34" charset="0"/>
                <a:ea typeface="Calibri" pitchFamily="34" charset="-122"/>
                <a:cs typeface="Calibri" pitchFamily="34" charset="-120"/>
              </a:rPr>
              <a:t>Type </a:t>
            </a:r>
            <a:pPr indent="0" marL="0">
              <a:buNone/>
            </a:pPr>
            <a:r>
              <a:rPr lang="en-US" sz="1500" b="1" dirty="0">
                <a:solidFill>
                  <a:srgbClr val="3FB950"/>
                </a:solidFill>
                <a:latin typeface="Courier New" pitchFamily="34" charset="0"/>
                <a:ea typeface="Courier New" pitchFamily="34" charset="-122"/>
                <a:cs typeface="Courier New" pitchFamily="34" charset="-120"/>
              </a:rPr>
              <a:t>:q!</a:t>
            </a:r>
            <a:pPr indent="0" marL="0">
              <a:buNone/>
            </a:pPr>
            <a:r>
              <a:rPr lang="en-US" sz="1500" dirty="0">
                <a:solidFill>
                  <a:srgbClr val="8B949E"/>
                </a:solidFill>
                <a:latin typeface="Calibri" pitchFamily="34" charset="0"/>
                <a:ea typeface="Calibri" pitchFamily="34" charset="-122"/>
                <a:cs typeface="Calibri" pitchFamily="34" charset="-120"/>
              </a:rPr>
              <a:t> then Enter to quit without saving, and reopen. Nothing lost but one edit.</a:t>
            </a:r>
            <a:endParaRPr lang="en-US" sz="1500" dirty="0"/>
          </a:p>
        </p:txBody>
      </p:sp>
      <p:sp>
        <p:nvSpPr>
          <p:cNvPr id="24" name="Text 22"/>
          <p:cNvSpPr/>
          <p:nvPr/>
        </p:nvSpPr>
        <p:spPr>
          <a:xfrm>
            <a:off x="658368" y="1847088"/>
            <a:ext cx="10058400" cy="365760"/>
          </a:xfrm>
          <a:prstGeom prst="rect">
            <a:avLst/>
          </a:prstGeom>
          <a:noFill/>
          <a:ln/>
        </p:spPr>
        <p:txBody>
          <a:bodyPr wrap="square" lIns="0" tIns="0" rIns="0" bIns="0" rtlCol="0" anchor="ctr"/>
          <a:lstStyle/>
          <a:p>
            <a:pPr indent="0" marL="0">
              <a:buNone/>
            </a:pPr>
            <a:r>
              <a:rPr lang="en-US" sz="1300" i="1" dirty="0">
                <a:solidFill>
                  <a:srgbClr val="58A6FF"/>
                </a:solidFill>
                <a:latin typeface="Calibri" pitchFamily="34" charset="0"/>
                <a:ea typeface="Calibri" pitchFamily="34" charset="-122"/>
                <a:cs typeface="Calibri" pitchFamily="34" charset="-120"/>
              </a:rPr>
              <a:t>Keep the vim cheat-sheet open in a second tab.</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640080" y="502920"/>
            <a:ext cx="9144000" cy="640080"/>
          </a:xfrm>
          <a:prstGeom prst="rect">
            <a:avLst/>
          </a:prstGeom>
          <a:noFill/>
          <a:ln/>
        </p:spPr>
        <p:txBody>
          <a:bodyPr wrap="square" lIns="0" tIns="0" rIns="0" bIns="0" rtlCol="0" anchor="ctr"/>
          <a:lstStyle/>
          <a:p>
            <a:pPr indent="0" marL="0">
              <a:buNone/>
            </a:pPr>
            <a:r>
              <a:rPr lang="en-US" sz="3600" b="1" dirty="0">
                <a:solidFill>
                  <a:srgbClr val="E6EDF3"/>
                </a:solidFill>
                <a:latin typeface="Arial" pitchFamily="34" charset="0"/>
                <a:ea typeface="Arial" pitchFamily="34" charset="-122"/>
                <a:cs typeface="Arial" pitchFamily="34" charset="-120"/>
              </a:rPr>
              <a:t>Two things that save you</a:t>
            </a:r>
            <a:endParaRPr lang="en-US" sz="3600" dirty="0"/>
          </a:p>
        </p:txBody>
      </p:sp>
      <p:sp>
        <p:nvSpPr>
          <p:cNvPr id="3" name="Shape 1"/>
          <p:cNvSpPr/>
          <p:nvPr/>
        </p:nvSpPr>
        <p:spPr>
          <a:xfrm>
            <a:off x="658368" y="1508760"/>
            <a:ext cx="5394960" cy="4480560"/>
          </a:xfrm>
          <a:prstGeom prst="roundRect">
            <a:avLst>
              <a:gd name="adj" fmla="val 1633"/>
            </a:avLst>
          </a:prstGeom>
          <a:solidFill>
            <a:srgbClr val="161B22"/>
          </a:solidFill>
          <a:ln w="12700">
            <a:solidFill>
              <a:srgbClr val="30363D"/>
            </a:solidFill>
            <a:prstDash val="solid"/>
          </a:ln>
        </p:spPr>
      </p:sp>
      <p:sp>
        <p:nvSpPr>
          <p:cNvPr id="4" name="Text 2"/>
          <p:cNvSpPr/>
          <p:nvPr/>
        </p:nvSpPr>
        <p:spPr>
          <a:xfrm>
            <a:off x="932688" y="1783080"/>
            <a:ext cx="4846320" cy="1005840"/>
          </a:xfrm>
          <a:prstGeom prst="rect">
            <a:avLst/>
          </a:prstGeom>
          <a:noFill/>
          <a:ln/>
        </p:spPr>
        <p:txBody>
          <a:bodyPr wrap="square" lIns="0" tIns="0" rIns="0" bIns="0" rtlCol="0" anchor="ctr"/>
          <a:lstStyle/>
          <a:p>
            <a:pPr indent="0" marL="0">
              <a:spcAft>
                <a:spcPts val="600"/>
              </a:spcAft>
              <a:buNone/>
            </a:pPr>
            <a:r>
              <a:rPr lang="en-US" sz="1500" b="1" dirty="0">
                <a:solidFill>
                  <a:srgbClr val="E6EDF3"/>
                </a:solidFill>
                <a:latin typeface="Calibri" pitchFamily="34" charset="0"/>
                <a:ea typeface="Calibri" pitchFamily="34" charset="-122"/>
                <a:cs typeface="Calibri" pitchFamily="34" charset="-120"/>
              </a:rPr>
              <a:t>Check your work, anytime</a:t>
            </a:r>
            <a:endParaRPr lang="en-US" sz="1500" dirty="0"/>
          </a:p>
          <a:p>
            <a:pPr indent="0" marL="0">
              <a:buNone/>
            </a:pPr>
            <a:r>
              <a:rPr lang="en-US" sz="1500" dirty="0">
                <a:solidFill>
                  <a:srgbClr val="8B949E"/>
                </a:solidFill>
                <a:latin typeface="Calibri" pitchFamily="34" charset="0"/>
                <a:ea typeface="Calibri" pitchFamily="34" charset="-122"/>
                <a:cs typeface="Calibri" pitchFamily="34" charset="-120"/>
              </a:rPr>
              <a:t>Run it after every step — it tells you, in plain English, what's done and what's next.</a:t>
            </a:r>
            <a:endParaRPr lang="en-US" sz="1500" dirty="0"/>
          </a:p>
        </p:txBody>
      </p:sp>
      <p:sp>
        <p:nvSpPr>
          <p:cNvPr id="5" name="Shape 3"/>
          <p:cNvSpPr/>
          <p:nvPr/>
        </p:nvSpPr>
        <p:spPr>
          <a:xfrm>
            <a:off x="932688" y="2880360"/>
            <a:ext cx="4846320" cy="2880360"/>
          </a:xfrm>
          <a:prstGeom prst="roundRect">
            <a:avLst>
              <a:gd name="adj" fmla="val 2540"/>
            </a:avLst>
          </a:prstGeom>
          <a:solidFill>
            <a:srgbClr val="010409"/>
          </a:solidFill>
          <a:ln w="12700">
            <a:solidFill>
              <a:srgbClr val="30363D"/>
            </a:solidFill>
            <a:prstDash val="solid"/>
          </a:ln>
        </p:spPr>
      </p:sp>
      <p:sp>
        <p:nvSpPr>
          <p:cNvPr id="6" name="Shape 4"/>
          <p:cNvSpPr/>
          <p:nvPr/>
        </p:nvSpPr>
        <p:spPr>
          <a:xfrm>
            <a:off x="1097280" y="3026664"/>
            <a:ext cx="109728" cy="109728"/>
          </a:xfrm>
          <a:prstGeom prst="ellipse">
            <a:avLst/>
          </a:prstGeom>
          <a:solidFill>
            <a:srgbClr val="F85149"/>
          </a:solidFill>
          <a:ln/>
        </p:spPr>
      </p:sp>
      <p:sp>
        <p:nvSpPr>
          <p:cNvPr id="7" name="Shape 5"/>
          <p:cNvSpPr/>
          <p:nvPr/>
        </p:nvSpPr>
        <p:spPr>
          <a:xfrm>
            <a:off x="1298448" y="3026664"/>
            <a:ext cx="109728" cy="109728"/>
          </a:xfrm>
          <a:prstGeom prst="ellipse">
            <a:avLst/>
          </a:prstGeom>
          <a:solidFill>
            <a:srgbClr val="D29922"/>
          </a:solidFill>
          <a:ln/>
        </p:spPr>
      </p:sp>
      <p:sp>
        <p:nvSpPr>
          <p:cNvPr id="8" name="Shape 6"/>
          <p:cNvSpPr/>
          <p:nvPr/>
        </p:nvSpPr>
        <p:spPr>
          <a:xfrm>
            <a:off x="1499616" y="3026664"/>
            <a:ext cx="109728" cy="109728"/>
          </a:xfrm>
          <a:prstGeom prst="ellipse">
            <a:avLst/>
          </a:prstGeom>
          <a:solidFill>
            <a:srgbClr val="3FB950"/>
          </a:solidFill>
          <a:ln/>
        </p:spPr>
      </p:sp>
      <p:sp>
        <p:nvSpPr>
          <p:cNvPr id="9" name="Shape 7"/>
          <p:cNvSpPr/>
          <p:nvPr/>
        </p:nvSpPr>
        <p:spPr>
          <a:xfrm>
            <a:off x="932688" y="3300984"/>
            <a:ext cx="4846320" cy="0"/>
          </a:xfrm>
          <a:prstGeom prst="line">
            <a:avLst/>
          </a:prstGeom>
          <a:noFill/>
          <a:ln w="12700">
            <a:solidFill>
              <a:srgbClr val="30363D"/>
            </a:solidFill>
            <a:prstDash val="solid"/>
          </a:ln>
        </p:spPr>
      </p:sp>
      <p:sp>
        <p:nvSpPr>
          <p:cNvPr id="10" name="Text 8"/>
          <p:cNvSpPr/>
          <p:nvPr/>
        </p:nvSpPr>
        <p:spPr>
          <a:xfrm>
            <a:off x="1133856" y="3429000"/>
            <a:ext cx="4443984" cy="2194560"/>
          </a:xfrm>
          <a:prstGeom prst="rect">
            <a:avLst/>
          </a:prstGeom>
          <a:noFill/>
          <a:ln/>
        </p:spPr>
        <p:txBody>
          <a:bodyPr wrap="square" lIns="0" tIns="0" rIns="0" bIns="0" rtlCol="0" anchor="t"/>
          <a:lstStyle/>
          <a:p>
            <a:pPr algn="l" indent="0" marL="0">
              <a:lnSpc>
                <a:spcPct val="108000"/>
              </a:lnSpc>
              <a:buNone/>
            </a:pPr>
            <a:r>
              <a:rPr lang="en-US" sz="1250" dirty="0">
                <a:solidFill>
                  <a:srgbClr val="3FB950"/>
                </a:solidFill>
                <a:latin typeface="Courier New" pitchFamily="34" charset="0"/>
                <a:ea typeface="Courier New" pitchFamily="34" charset="-122"/>
                <a:cs typeface="Courier New" pitchFamily="34" charset="-120"/>
              </a:rPr>
              <a:t>$ bash check.sh</a:t>
            </a:r>
            <a:endParaRPr lang="en-US" sz="1250" dirty="0"/>
          </a:p>
          <a:p>
            <a:pPr algn="l" indent="0" marL="0">
              <a:lnSpc>
                <a:spcPct val="108000"/>
              </a:lnSpc>
              <a:buNone/>
            </a:pPr>
            <a:endParaRPr lang="en-US" sz="1250" dirty="0"/>
          </a:p>
          <a:p>
            <a:pPr algn="l" indent="0" marL="0">
              <a:lnSpc>
                <a:spcPct val="108000"/>
              </a:lnSpc>
              <a:buNone/>
            </a:pPr>
            <a:r>
              <a:rPr lang="en-US" sz="1250" dirty="0">
                <a:solidFill>
                  <a:srgbClr val="3FB950"/>
                </a:solidFill>
                <a:latin typeface="Courier New" pitchFamily="34" charset="0"/>
                <a:ea typeface="Courier New" pitchFamily="34" charset="-122"/>
                <a:cs typeface="Courier New" pitchFamily="34" charset="-120"/>
              </a:rPr>
              <a:t>✓ command-center exists</a:t>
            </a:r>
            <a:endParaRPr lang="en-US" sz="1250" dirty="0"/>
          </a:p>
          <a:p>
            <a:pPr algn="l" indent="0" marL="0">
              <a:lnSpc>
                <a:spcPct val="108000"/>
              </a:lnSpc>
              <a:buNone/>
            </a:pPr>
            <a:r>
              <a:rPr lang="en-US" sz="1250" dirty="0">
                <a:solidFill>
                  <a:srgbClr val="3FB950"/>
                </a:solidFill>
                <a:latin typeface="Courier New" pitchFamily="34" charset="0"/>
                <a:ea typeface="Courier New" pitchFamily="34" charset="-122"/>
                <a:cs typeface="Courier New" pitchFamily="34" charset="-120"/>
              </a:rPr>
              <a:t>✓ dashboard.sh has content</a:t>
            </a:r>
            <a:endParaRPr lang="en-US" sz="1250" dirty="0"/>
          </a:p>
          <a:p>
            <a:pPr algn="l" indent="0" marL="0">
              <a:lnSpc>
                <a:spcPct val="108000"/>
              </a:lnSpc>
              <a:buNone/>
            </a:pPr>
            <a:r>
              <a:rPr lang="en-US" sz="1250" dirty="0">
                <a:solidFill>
                  <a:srgbClr val="F85149"/>
                </a:solidFill>
                <a:latin typeface="Courier New" pitchFamily="34" charset="0"/>
                <a:ea typeface="Courier New" pitchFamily="34" charset="-122"/>
                <a:cs typeface="Courier New" pitchFamily="34" charset="-120"/>
              </a:rPr>
              <a:t>✗ not executable yet</a:t>
            </a:r>
            <a:endParaRPr lang="en-US" sz="1250" dirty="0"/>
          </a:p>
          <a:p>
            <a:pPr algn="l" indent="0" marL="0">
              <a:lnSpc>
                <a:spcPct val="108000"/>
              </a:lnSpc>
              <a:buNone/>
            </a:pPr>
            <a:r>
              <a:rPr lang="en-US" sz="1250" dirty="0">
                <a:solidFill>
                  <a:srgbClr val="D29922"/>
                </a:solidFill>
                <a:latin typeface="Courier New" pitchFamily="34" charset="0"/>
                <a:ea typeface="Courier New" pitchFamily="34" charset="-122"/>
                <a:cs typeface="Courier New" pitchFamily="34" charset="-120"/>
              </a:rPr>
              <a:t>  ↳ run: chmod +x dashboard.sh</a:t>
            </a:r>
            <a:endParaRPr lang="en-US" sz="1250" dirty="0"/>
          </a:p>
          <a:p>
            <a:pPr algn="l" indent="0" marL="0">
              <a:lnSpc>
                <a:spcPct val="108000"/>
              </a:lnSpc>
              <a:buNone/>
            </a:pPr>
            <a:endParaRPr lang="en-US" sz="1250" dirty="0"/>
          </a:p>
          <a:p>
            <a:pPr algn="l" indent="0" marL="0">
              <a:lnSpc>
                <a:spcPct val="108000"/>
              </a:lnSpc>
              <a:buNone/>
            </a:pPr>
            <a:r>
              <a:rPr lang="en-US" sz="1250" b="1" dirty="0">
                <a:solidFill>
                  <a:srgbClr val="58A6FF"/>
                </a:solidFill>
                <a:latin typeface="Courier New" pitchFamily="34" charset="0"/>
                <a:ea typeface="Courier New" pitchFamily="34" charset="-122"/>
                <a:cs typeface="Courier New" pitchFamily="34" charset="-120"/>
              </a:rPr>
              <a:t>Progress: 5 / 6 steps</a:t>
            </a:r>
            <a:endParaRPr lang="en-US" sz="1250" dirty="0"/>
          </a:p>
        </p:txBody>
      </p:sp>
      <p:sp>
        <p:nvSpPr>
          <p:cNvPr id="11" name="Shape 9"/>
          <p:cNvSpPr/>
          <p:nvPr/>
        </p:nvSpPr>
        <p:spPr>
          <a:xfrm>
            <a:off x="6309360" y="1508760"/>
            <a:ext cx="5230368" cy="4480560"/>
          </a:xfrm>
          <a:prstGeom prst="roundRect">
            <a:avLst>
              <a:gd name="adj" fmla="val 1633"/>
            </a:avLst>
          </a:prstGeom>
          <a:solidFill>
            <a:srgbClr val="161B22"/>
          </a:solidFill>
          <a:ln w="12700">
            <a:solidFill>
              <a:srgbClr val="30363D"/>
            </a:solidFill>
            <a:prstDash val="solid"/>
          </a:ln>
        </p:spPr>
      </p:sp>
      <p:sp>
        <p:nvSpPr>
          <p:cNvPr id="12" name="Text 10"/>
          <p:cNvSpPr/>
          <p:nvPr/>
        </p:nvSpPr>
        <p:spPr>
          <a:xfrm>
            <a:off x="6583680" y="1783080"/>
            <a:ext cx="4663440" cy="914400"/>
          </a:xfrm>
          <a:prstGeom prst="rect">
            <a:avLst/>
          </a:prstGeom>
          <a:noFill/>
          <a:ln/>
        </p:spPr>
        <p:txBody>
          <a:bodyPr wrap="square" lIns="0" tIns="0" rIns="0" bIns="0" rtlCol="0" anchor="ctr"/>
          <a:lstStyle/>
          <a:p>
            <a:pPr indent="0" marL="0">
              <a:spcAft>
                <a:spcPts val="600"/>
              </a:spcAft>
              <a:buNone/>
            </a:pPr>
            <a:r>
              <a:rPr lang="en-US" sz="1500" b="1" dirty="0">
                <a:solidFill>
                  <a:srgbClr val="E6EDF3"/>
                </a:solidFill>
                <a:latin typeface="Calibri" pitchFamily="34" charset="0"/>
                <a:ea typeface="Calibri" pitchFamily="34" charset="-122"/>
                <a:cs typeface="Calibri" pitchFamily="34" charset="-120"/>
              </a:rPr>
              <a:t>When something breaks</a:t>
            </a:r>
            <a:endParaRPr lang="en-US" sz="1500" dirty="0"/>
          </a:p>
          <a:p>
            <a:pPr indent="0" marL="0">
              <a:buNone/>
            </a:pPr>
            <a:r>
              <a:rPr lang="en-US" sz="1500" dirty="0">
                <a:solidFill>
                  <a:srgbClr val="8B949E"/>
                </a:solidFill>
                <a:latin typeface="Calibri" pitchFamily="34" charset="0"/>
                <a:ea typeface="Calibri" pitchFamily="34" charset="-122"/>
                <a:cs typeface="Calibri" pitchFamily="34" charset="-120"/>
              </a:rPr>
              <a:t>Almost every error this hour is one of two things:</a:t>
            </a:r>
            <a:endParaRPr lang="en-US" sz="1500" dirty="0"/>
          </a:p>
        </p:txBody>
      </p:sp>
      <p:sp>
        <p:nvSpPr>
          <p:cNvPr id="13" name="Shape 11"/>
          <p:cNvSpPr/>
          <p:nvPr/>
        </p:nvSpPr>
        <p:spPr>
          <a:xfrm>
            <a:off x="6583680" y="2880360"/>
            <a:ext cx="365760" cy="365760"/>
          </a:xfrm>
          <a:prstGeom prst="ellipse">
            <a:avLst/>
          </a:prstGeom>
          <a:solidFill>
            <a:srgbClr val="D29922"/>
          </a:solidFill>
          <a:ln/>
        </p:spPr>
      </p:sp>
      <p:sp>
        <p:nvSpPr>
          <p:cNvPr id="14" name="Text 12"/>
          <p:cNvSpPr/>
          <p:nvPr/>
        </p:nvSpPr>
        <p:spPr>
          <a:xfrm>
            <a:off x="6583680" y="2880360"/>
            <a:ext cx="365760" cy="365760"/>
          </a:xfrm>
          <a:prstGeom prst="rect">
            <a:avLst/>
          </a:prstGeom>
          <a:noFill/>
          <a:ln/>
        </p:spPr>
        <p:txBody>
          <a:bodyPr wrap="square" lIns="0" tIns="0" rIns="0" bIns="0" rtlCol="0" anchor="ctr"/>
          <a:lstStyle/>
          <a:p>
            <a:pPr algn="ctr" indent="0" marL="0">
              <a:buNone/>
            </a:pPr>
            <a:r>
              <a:rPr lang="en-US" sz="1800" b="1" dirty="0">
                <a:solidFill>
                  <a:srgbClr val="0D1117"/>
                </a:solidFill>
                <a:latin typeface="Arial" pitchFamily="34" charset="0"/>
                <a:ea typeface="Arial" pitchFamily="34" charset="-122"/>
                <a:cs typeface="Arial" pitchFamily="34" charset="-120"/>
              </a:rPr>
              <a:t>!</a:t>
            </a:r>
            <a:endParaRPr lang="en-US" sz="1800" dirty="0"/>
          </a:p>
        </p:txBody>
      </p:sp>
      <p:sp>
        <p:nvSpPr>
          <p:cNvPr id="15" name="Text 13"/>
          <p:cNvSpPr/>
          <p:nvPr/>
        </p:nvSpPr>
        <p:spPr>
          <a:xfrm>
            <a:off x="7086600" y="2834640"/>
            <a:ext cx="4206240" cy="1188720"/>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A typo
</a:t>
            </a:r>
            <a:pPr indent="0" marL="0">
              <a:buNone/>
            </a:pPr>
            <a:r>
              <a:rPr lang="en-US" sz="1400" dirty="0">
                <a:solidFill>
                  <a:srgbClr val="8B949E"/>
                </a:solidFill>
                <a:latin typeface="Calibri" pitchFamily="34" charset="0"/>
                <a:ea typeface="Calibri" pitchFamily="34" charset="-122"/>
                <a:cs typeface="Calibri" pitchFamily="34" charset="-120"/>
              </a:rPr>
              <a:t>Caps and spaces matter. Ls ≠ ls. Read the line again, slowly.</a:t>
            </a:r>
            <a:endParaRPr lang="en-US" sz="1400" dirty="0"/>
          </a:p>
        </p:txBody>
      </p:sp>
      <p:sp>
        <p:nvSpPr>
          <p:cNvPr id="16" name="Shape 14"/>
          <p:cNvSpPr/>
          <p:nvPr/>
        </p:nvSpPr>
        <p:spPr>
          <a:xfrm>
            <a:off x="6583680" y="4251960"/>
            <a:ext cx="365760" cy="365760"/>
          </a:xfrm>
          <a:prstGeom prst="ellipse">
            <a:avLst/>
          </a:prstGeom>
          <a:solidFill>
            <a:srgbClr val="D29922"/>
          </a:solidFill>
          <a:ln/>
        </p:spPr>
      </p:sp>
      <p:sp>
        <p:nvSpPr>
          <p:cNvPr id="17" name="Text 15"/>
          <p:cNvSpPr/>
          <p:nvPr/>
        </p:nvSpPr>
        <p:spPr>
          <a:xfrm>
            <a:off x="6583680" y="4251960"/>
            <a:ext cx="365760" cy="365760"/>
          </a:xfrm>
          <a:prstGeom prst="rect">
            <a:avLst/>
          </a:prstGeom>
          <a:noFill/>
          <a:ln/>
        </p:spPr>
        <p:txBody>
          <a:bodyPr wrap="square" lIns="0" tIns="0" rIns="0" bIns="0" rtlCol="0" anchor="ctr"/>
          <a:lstStyle/>
          <a:p>
            <a:pPr algn="ctr" indent="0" marL="0">
              <a:buNone/>
            </a:pPr>
            <a:r>
              <a:rPr lang="en-US" sz="1800" b="1" dirty="0">
                <a:solidFill>
                  <a:srgbClr val="0D1117"/>
                </a:solidFill>
                <a:latin typeface="Arial" pitchFamily="34" charset="0"/>
                <a:ea typeface="Arial" pitchFamily="34" charset="-122"/>
                <a:cs typeface="Arial" pitchFamily="34" charset="-120"/>
              </a:rPr>
              <a:t>!</a:t>
            </a:r>
            <a:endParaRPr lang="en-US" sz="1800" dirty="0"/>
          </a:p>
        </p:txBody>
      </p:sp>
      <p:sp>
        <p:nvSpPr>
          <p:cNvPr id="18" name="Text 16"/>
          <p:cNvSpPr/>
          <p:nvPr/>
        </p:nvSpPr>
        <p:spPr>
          <a:xfrm>
            <a:off x="7086600" y="4206240"/>
            <a:ext cx="4206240" cy="1188720"/>
          </a:xfrm>
          <a:prstGeom prst="rect">
            <a:avLst/>
          </a:prstGeom>
          <a:noFill/>
          <a:ln/>
        </p:spPr>
        <p:txBody>
          <a:bodyPr wrap="square" lIns="0" tIns="0" rIns="0" bIns="0" rtlCol="0" anchor="t"/>
          <a:lstStyle/>
          <a:p>
            <a:pPr indent="0" marL="0">
              <a:buNone/>
            </a:pPr>
            <a:r>
              <a:rPr lang="en-US" sz="1400" b="1" dirty="0">
                <a:solidFill>
                  <a:srgbClr val="E6EDF3"/>
                </a:solidFill>
                <a:latin typeface="Calibri" pitchFamily="34" charset="0"/>
                <a:ea typeface="Calibri" pitchFamily="34" charset="-122"/>
                <a:cs typeface="Calibri" pitchFamily="34" charset="-120"/>
              </a:rPr>
              <a:t>Wrong folder
</a:t>
            </a:r>
            <a:pPr indent="0" marL="0">
              <a:buNone/>
            </a:pPr>
            <a:r>
              <a:rPr lang="en-US" sz="1400" dirty="0">
                <a:solidFill>
                  <a:srgbClr val="8B949E"/>
                </a:solidFill>
                <a:latin typeface="Calibri" pitchFamily="34" charset="0"/>
                <a:ea typeface="Calibri" pitchFamily="34" charset="-122"/>
                <a:cs typeface="Calibri" pitchFamily="34" charset="-120"/>
              </a:rPr>
              <a:t>"No such file" usually means you're not where you think. Run pwd to orient, cd to fix.</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640080" y="640080"/>
            <a:ext cx="502920" cy="502920"/>
          </a:xfrm>
          <a:prstGeom prst="ellipse">
            <a:avLst/>
          </a:prstGeom>
          <a:solidFill>
            <a:srgbClr val="3FB950"/>
          </a:solidFill>
          <a:ln/>
        </p:spPr>
      </p:sp>
      <p:sp>
        <p:nvSpPr>
          <p:cNvPr id="3" name="Text 1"/>
          <p:cNvSpPr/>
          <p:nvPr/>
        </p:nvSpPr>
        <p:spPr>
          <a:xfrm>
            <a:off x="640080" y="640080"/>
            <a:ext cx="502920" cy="502920"/>
          </a:xfrm>
          <a:prstGeom prst="rect">
            <a:avLst/>
          </a:prstGeom>
          <a:noFill/>
          <a:ln/>
        </p:spPr>
        <p:txBody>
          <a:bodyPr wrap="square" lIns="0" tIns="0" rIns="0" bIns="0" rtlCol="0" anchor="ctr"/>
          <a:lstStyle/>
          <a:p>
            <a:pPr algn="ctr" indent="0" marL="0">
              <a:buNone/>
            </a:pPr>
            <a:r>
              <a:rPr lang="en-US" sz="1400" b="1" dirty="0">
                <a:solidFill>
                  <a:srgbClr val="0D1117"/>
                </a:solidFill>
                <a:latin typeface="Courier New" pitchFamily="34" charset="0"/>
                <a:ea typeface="Courier New" pitchFamily="34" charset="-122"/>
                <a:cs typeface="Courier New" pitchFamily="34" charset="-120"/>
              </a:rPr>
              <a:t>$</a:t>
            </a:r>
            <a:endParaRPr lang="en-US" sz="1400" dirty="0"/>
          </a:p>
        </p:txBody>
      </p:sp>
      <p:sp>
        <p:nvSpPr>
          <p:cNvPr id="4" name="Text 2"/>
          <p:cNvSpPr/>
          <p:nvPr/>
        </p:nvSpPr>
        <p:spPr>
          <a:xfrm>
            <a:off x="1325880" y="704088"/>
            <a:ext cx="7315200" cy="365760"/>
          </a:xfrm>
          <a:prstGeom prst="rect">
            <a:avLst/>
          </a:prstGeom>
          <a:noFill/>
          <a:ln/>
        </p:spPr>
        <p:txBody>
          <a:bodyPr wrap="square" lIns="0" tIns="0" rIns="0" bIns="0" rtlCol="0" anchor="ctr"/>
          <a:lstStyle/>
          <a:p>
            <a:pPr indent="0" marL="0">
              <a:buNone/>
            </a:pPr>
            <a:r>
              <a:rPr lang="en-US" sz="1400" spc="200" kern="0" dirty="0">
                <a:solidFill>
                  <a:srgbClr val="58A6FF"/>
                </a:solidFill>
                <a:latin typeface="Courier New" pitchFamily="34" charset="0"/>
                <a:ea typeface="Courier New" pitchFamily="34" charset="-122"/>
                <a:cs typeface="Courier New" pitchFamily="34" charset="-120"/>
              </a:rPr>
              <a:t>NEXT: WORKSHOP 2</a:t>
            </a:r>
            <a:endParaRPr lang="en-US" sz="1400" dirty="0"/>
          </a:p>
        </p:txBody>
      </p:sp>
      <p:sp>
        <p:nvSpPr>
          <p:cNvPr id="5" name="Text 3"/>
          <p:cNvSpPr/>
          <p:nvPr/>
        </p:nvSpPr>
        <p:spPr>
          <a:xfrm>
            <a:off x="640080" y="1828800"/>
            <a:ext cx="7589520" cy="1828800"/>
          </a:xfrm>
          <a:prstGeom prst="rect">
            <a:avLst/>
          </a:prstGeom>
          <a:noFill/>
          <a:ln/>
        </p:spPr>
        <p:txBody>
          <a:bodyPr wrap="square" lIns="0" tIns="0" rIns="0" bIns="0" rtlCol="0" anchor="ctr"/>
          <a:lstStyle/>
          <a:p>
            <a:pPr indent="0" marL="0">
              <a:lnSpc>
                <a:spcPct val="98000"/>
              </a:lnSpc>
              <a:buNone/>
            </a:pPr>
            <a:r>
              <a:rPr lang="en-US" sz="4800" b="1" dirty="0">
                <a:solidFill>
                  <a:srgbClr val="E6EDF3"/>
                </a:solidFill>
                <a:latin typeface="Arial" pitchFamily="34" charset="0"/>
                <a:ea typeface="Arial" pitchFamily="34" charset="-122"/>
                <a:cs typeface="Arial" pitchFamily="34" charset="-120"/>
              </a:rPr>
              <a:t>Same skills.</a:t>
            </a:r>
            <a:endParaRPr lang="en-US" sz="4800" dirty="0"/>
          </a:p>
          <a:p>
            <a:pPr indent="0" marL="0">
              <a:lnSpc>
                <a:spcPct val="98000"/>
              </a:lnSpc>
              <a:buNone/>
            </a:pPr>
            <a:r>
              <a:rPr lang="en-US" sz="4800" b="1" dirty="0">
                <a:solidFill>
                  <a:srgbClr val="E6EDF3"/>
                </a:solidFill>
                <a:latin typeface="Arial" pitchFamily="34" charset="0"/>
                <a:ea typeface="Arial" pitchFamily="34" charset="-122"/>
                <a:cs typeface="Arial" pitchFamily="34" charset="-120"/>
              </a:rPr>
              <a:t>Next time, a GPU.</a:t>
            </a:r>
            <a:endParaRPr lang="en-US" sz="4800" dirty="0"/>
          </a:p>
        </p:txBody>
      </p:sp>
      <p:sp>
        <p:nvSpPr>
          <p:cNvPr id="6" name="Text 4"/>
          <p:cNvSpPr/>
          <p:nvPr/>
        </p:nvSpPr>
        <p:spPr>
          <a:xfrm>
            <a:off x="658368" y="3749040"/>
            <a:ext cx="7223760" cy="1097280"/>
          </a:xfrm>
          <a:prstGeom prst="rect">
            <a:avLst/>
          </a:prstGeom>
          <a:noFill/>
          <a:ln/>
        </p:spPr>
        <p:txBody>
          <a:bodyPr wrap="square" lIns="0" tIns="0" rIns="0" bIns="0" rtlCol="0" anchor="ctr"/>
          <a:lstStyle/>
          <a:p>
            <a:pPr indent="0" marL="0">
              <a:spcAft>
                <a:spcPts val="800"/>
              </a:spcAft>
              <a:buNone/>
            </a:pPr>
            <a:r>
              <a:rPr lang="en-US" sz="1800" dirty="0">
                <a:solidFill>
                  <a:srgbClr val="8B949E"/>
                </a:solidFill>
                <a:latin typeface="Calibri" pitchFamily="34" charset="0"/>
                <a:ea typeface="Calibri" pitchFamily="34" charset="-122"/>
                <a:cs typeface="Calibri" pitchFamily="34" charset="-120"/>
              </a:rPr>
              <a:t>Navigate, edit, run, manage processes — you'll use every one of today's moves. </a:t>
            </a:r>
            <a:endParaRPr lang="en-US" sz="1800" dirty="0"/>
          </a:p>
          <a:p>
            <a:pPr indent="0" marL="0">
              <a:buNone/>
            </a:pPr>
            <a:r>
              <a:rPr lang="en-US" sz="1800" dirty="0">
                <a:solidFill>
                  <a:srgbClr val="8B949E"/>
                </a:solidFill>
                <a:latin typeface="Calibri" pitchFamily="34" charset="0"/>
                <a:ea typeface="Calibri" pitchFamily="34" charset="-122"/>
                <a:cs typeface="Calibri" pitchFamily="34" charset="-120"/>
              </a:rPr>
              <a:t>Your dashboard just learns one new trick:</a:t>
            </a:r>
            <a:endParaRPr lang="en-US" sz="1800" dirty="0"/>
          </a:p>
        </p:txBody>
      </p:sp>
      <p:sp>
        <p:nvSpPr>
          <p:cNvPr id="7" name="Shape 5"/>
          <p:cNvSpPr/>
          <p:nvPr/>
        </p:nvSpPr>
        <p:spPr>
          <a:xfrm>
            <a:off x="8366760" y="1828800"/>
            <a:ext cx="3200400" cy="2926080"/>
          </a:xfrm>
          <a:prstGeom prst="roundRect">
            <a:avLst>
              <a:gd name="adj" fmla="val 2500"/>
            </a:avLst>
          </a:prstGeom>
          <a:solidFill>
            <a:srgbClr val="010409"/>
          </a:solidFill>
          <a:ln w="12700">
            <a:solidFill>
              <a:srgbClr val="30363D"/>
            </a:solidFill>
            <a:prstDash val="solid"/>
          </a:ln>
        </p:spPr>
      </p:sp>
      <p:sp>
        <p:nvSpPr>
          <p:cNvPr id="8" name="Shape 6"/>
          <p:cNvSpPr/>
          <p:nvPr/>
        </p:nvSpPr>
        <p:spPr>
          <a:xfrm>
            <a:off x="8531352" y="1975104"/>
            <a:ext cx="109728" cy="109728"/>
          </a:xfrm>
          <a:prstGeom prst="ellipse">
            <a:avLst/>
          </a:prstGeom>
          <a:solidFill>
            <a:srgbClr val="F85149"/>
          </a:solidFill>
          <a:ln/>
        </p:spPr>
      </p:sp>
      <p:sp>
        <p:nvSpPr>
          <p:cNvPr id="9" name="Shape 7"/>
          <p:cNvSpPr/>
          <p:nvPr/>
        </p:nvSpPr>
        <p:spPr>
          <a:xfrm>
            <a:off x="8732520" y="1975104"/>
            <a:ext cx="109728" cy="109728"/>
          </a:xfrm>
          <a:prstGeom prst="ellipse">
            <a:avLst/>
          </a:prstGeom>
          <a:solidFill>
            <a:srgbClr val="D29922"/>
          </a:solidFill>
          <a:ln/>
        </p:spPr>
      </p:sp>
      <p:sp>
        <p:nvSpPr>
          <p:cNvPr id="10" name="Shape 8"/>
          <p:cNvSpPr/>
          <p:nvPr/>
        </p:nvSpPr>
        <p:spPr>
          <a:xfrm>
            <a:off x="8933688" y="1975104"/>
            <a:ext cx="109728" cy="109728"/>
          </a:xfrm>
          <a:prstGeom prst="ellipse">
            <a:avLst/>
          </a:prstGeom>
          <a:solidFill>
            <a:srgbClr val="3FB950"/>
          </a:solidFill>
          <a:ln/>
        </p:spPr>
      </p:sp>
      <p:sp>
        <p:nvSpPr>
          <p:cNvPr id="11" name="Shape 9"/>
          <p:cNvSpPr/>
          <p:nvPr/>
        </p:nvSpPr>
        <p:spPr>
          <a:xfrm>
            <a:off x="8366760" y="2249424"/>
            <a:ext cx="3200400" cy="0"/>
          </a:xfrm>
          <a:prstGeom prst="line">
            <a:avLst/>
          </a:prstGeom>
          <a:noFill/>
          <a:ln w="12700">
            <a:solidFill>
              <a:srgbClr val="30363D"/>
            </a:solidFill>
            <a:prstDash val="solid"/>
          </a:ln>
        </p:spPr>
      </p:sp>
      <p:sp>
        <p:nvSpPr>
          <p:cNvPr id="12" name="Text 10"/>
          <p:cNvSpPr/>
          <p:nvPr/>
        </p:nvSpPr>
        <p:spPr>
          <a:xfrm>
            <a:off x="8567928" y="2377440"/>
            <a:ext cx="2798064" cy="2240280"/>
          </a:xfrm>
          <a:prstGeom prst="rect">
            <a:avLst/>
          </a:prstGeom>
          <a:noFill/>
          <a:ln/>
        </p:spPr>
        <p:txBody>
          <a:bodyPr wrap="square" lIns="0" tIns="0" rIns="0" bIns="0" rtlCol="0" anchor="t"/>
          <a:lstStyle/>
          <a:p>
            <a:pPr algn="l" indent="0" marL="0">
              <a:lnSpc>
                <a:spcPct val="108000"/>
              </a:lnSpc>
              <a:buNone/>
            </a:pPr>
            <a:r>
              <a:rPr lang="en-US" sz="1400" dirty="0">
                <a:solidFill>
                  <a:srgbClr val="3FB950"/>
                </a:solidFill>
                <a:latin typeface="Courier New" pitchFamily="34" charset="0"/>
                <a:ea typeface="Courier New" pitchFamily="34" charset="-122"/>
                <a:cs typeface="Courier New" pitchFamily="34" charset="-120"/>
              </a:rPr>
              <a:t>$ nvidia-smi</a:t>
            </a:r>
            <a:endParaRPr lang="en-US" sz="1400" dirty="0"/>
          </a:p>
          <a:p>
            <a:pPr algn="l" indent="0" marL="0">
              <a:lnSpc>
                <a:spcPct val="108000"/>
              </a:lnSpc>
              <a:buNone/>
            </a:pPr>
            <a:r>
              <a:rPr lang="en-US" sz="1400" dirty="0">
                <a:solidFill>
                  <a:srgbClr val="E6EDF3"/>
                </a:solidFill>
                <a:latin typeface="Courier New" pitchFamily="34" charset="0"/>
                <a:ea typeface="Courier New" pitchFamily="34" charset="-122"/>
                <a:cs typeface="Courier New" pitchFamily="34" charset="-120"/>
              </a:rPr>
              <a:t>GPU 0: online</a:t>
            </a:r>
            <a:endParaRPr lang="en-US" sz="1400" dirty="0"/>
          </a:p>
          <a:p>
            <a:pPr algn="l" indent="0" marL="0">
              <a:lnSpc>
                <a:spcPct val="108000"/>
              </a:lnSpc>
              <a:buNone/>
            </a:pPr>
            <a:r>
              <a:rPr lang="en-US" sz="1400" dirty="0">
                <a:solidFill>
                  <a:srgbClr val="E6EDF3"/>
                </a:solidFill>
                <a:latin typeface="Courier New" pitchFamily="34" charset="0"/>
                <a:ea typeface="Courier New" pitchFamily="34" charset="-122"/>
                <a:cs typeface="Courier New" pitchFamily="34" charset="-120"/>
              </a:rPr>
              <a:t>  temp   61C</a:t>
            </a:r>
            <a:endParaRPr lang="en-US" sz="1400" dirty="0"/>
          </a:p>
          <a:p>
            <a:pPr algn="l" indent="0" marL="0">
              <a:lnSpc>
                <a:spcPct val="108000"/>
              </a:lnSpc>
              <a:buNone/>
            </a:pPr>
            <a:r>
              <a:rPr lang="en-US" sz="1400" dirty="0">
                <a:solidFill>
                  <a:srgbClr val="E6EDF3"/>
                </a:solidFill>
                <a:latin typeface="Courier New" pitchFamily="34" charset="0"/>
                <a:ea typeface="Courier New" pitchFamily="34" charset="-122"/>
                <a:cs typeface="Courier New" pitchFamily="34" charset="-120"/>
              </a:rPr>
              <a:t>  mem  2/16 GB</a:t>
            </a:r>
            <a:endParaRPr lang="en-US" sz="1400" dirty="0"/>
          </a:p>
          <a:p>
            <a:pPr algn="l" indent="0" marL="0">
              <a:lnSpc>
                <a:spcPct val="108000"/>
              </a:lnSpc>
              <a:buNone/>
            </a:pPr>
            <a:r>
              <a:rPr lang="en-US" sz="1400" dirty="0">
                <a:solidFill>
                  <a:srgbClr val="58A6FF"/>
                </a:solidFill>
                <a:latin typeface="Courier New" pitchFamily="34" charset="0"/>
                <a:ea typeface="Courier New" pitchFamily="34" charset="-122"/>
                <a:cs typeface="Courier New" pitchFamily="34" charset="-120"/>
              </a:rPr>
              <a:t>  util   88%</a:t>
            </a:r>
            <a:endParaRPr lang="en-US" sz="1400" dirty="0"/>
          </a:p>
          <a:p>
            <a:pPr algn="l" indent="0" marL="0">
              <a:lnSpc>
                <a:spcPct val="108000"/>
              </a:lnSpc>
              <a:buNone/>
            </a:pPr>
            <a:endParaRPr lang="en-US" sz="1400" dirty="0"/>
          </a:p>
          <a:p>
            <a:pPr algn="l" indent="0" marL="0">
              <a:lnSpc>
                <a:spcPct val="108000"/>
              </a:lnSpc>
              <a:buNone/>
            </a:pPr>
            <a:r>
              <a:rPr lang="en-US" sz="1400" dirty="0">
                <a:solidFill>
                  <a:srgbClr val="3FB950"/>
                </a:solidFill>
                <a:latin typeface="Courier New" pitchFamily="34" charset="0"/>
                <a:ea typeface="Courier New" pitchFamily="34" charset="-122"/>
                <a:cs typeface="Courier New" pitchFamily="34" charset="-120"/>
              </a:rPr>
              <a:t>see you there _</a:t>
            </a:r>
            <a:endParaRPr lang="en-US" sz="1400" dirty="0"/>
          </a:p>
        </p:txBody>
      </p:sp>
      <p:sp>
        <p:nvSpPr>
          <p:cNvPr id="13" name="Text 11"/>
          <p:cNvSpPr/>
          <p:nvPr/>
        </p:nvSpPr>
        <p:spPr>
          <a:xfrm>
            <a:off x="658368" y="5074920"/>
            <a:ext cx="7223760" cy="640080"/>
          </a:xfrm>
          <a:prstGeom prst="rect">
            <a:avLst/>
          </a:prstGeom>
          <a:noFill/>
          <a:ln/>
        </p:spPr>
        <p:txBody>
          <a:bodyPr wrap="square" lIns="0" tIns="0" rIns="0" bIns="0" rtlCol="0" anchor="ctr"/>
          <a:lstStyle/>
          <a:p>
            <a:pPr indent="0" marL="0">
              <a:buNone/>
            </a:pPr>
            <a:r>
              <a:rPr lang="en-US" sz="1500" i="1" dirty="0">
                <a:solidFill>
                  <a:srgbClr val="3FB950"/>
                </a:solidFill>
                <a:latin typeface="Calibri" pitchFamily="34" charset="0"/>
                <a:ea typeface="Calibri" pitchFamily="34" charset="-122"/>
                <a:cs typeface="Calibri" pitchFamily="34" charset="-120"/>
              </a:rPr>
              <a:t>one line — and your command center reports on the graphics card doing the heavy lifting.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2026-07-21T04:13:39Z</dcterms:created>
  <dcterms:modified xsi:type="dcterms:W3CDTF">2026-07-21T04:13:39Z</dcterms:modified>
</cp:coreProperties>
</file>